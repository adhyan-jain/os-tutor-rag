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in one sentence: a chatbot that answers from our own OS course material and teaches like a tutor rather than a search box. Mention both authors. Two parts: the OS tutor chatbot, and the research study (Reference-Choice Robustness). Placeholders in square brackets (course name, logo) must be filled before submission.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three failure modes of existing options. Our idea: grounding plus a pedagogy layer whose decisions are code. Objectives O1-O3 are the RAG research half; O4-O6 are the tutor half. The prof's focus (Socratic, interactive, friendly, good follow-ups) is O5 and O6. O7 is the research half: many OS answers are equally valid, so a single gold answer is an arbitrary choice; we ask how much that choice matters.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the chatbot architecture. Bottom strip: the research protocol, a separate pipeline that does not use the chatbot. Walk through the red frame first. plan_turn runs before retrieval: triage (distress, off-scope, prompt injection), intent and difficulty detection, grading of the pending question, quiz and orientation. Many turns are answered entirely by authored text chosen by code, with no retrieval and usually no model call. Otherwise the message becomes a RagPlan: dense retrieval over the index (built offline from 36 indexed files: slides chunked into title-prefixed bullet children with the slide as parent, PDFs page-aware), parent expansion capped at 400 tokens, an explain-first teaching prompt, and a streamed local Ollama LLM. finish_rag then appends at most one Socratic question and the follow-up chips. Two optional model calls exist and are validated or clamped: model-written follow-up questions, and one advisory call for free-text answers the regex keys cannot read (at most one level up, never to UNDERSTOOD). Emphasise: the LLM never decides whether a student is right. Everything reaches the browser as SSE events token, ui and sources.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exact prompt the experiments scored, plus how scores are made. For each of the 26 questions we retrieve contexts and generate an answer, then RAGAS sends the judge the question, contexts, answer and ground truth. The judge splits text into claims and decides entailment; metrics are fractions of those decisions. answer_correctness is an F1 over statements, so answer length and statement granularity move the score. We used a judge from a different family to avoid self-preference bias. Right: read the chart against the shaded band; only bars clearly outside it are results. Defect fixes (+0.111) and the few-shot prompt (+0.092) are real; chain-of-thought hurt because shorter answers state fewer statements. Reranking (+0.029) and multi-query (+0.014) are inside run-to-run noise (same config scored twice: 0.7752 and 0.7478). Important caveat: the teaching prompt students see is not the few_shot prompt, and has no RAGAS score. Other caveats: 26 questions, 7B judge, one run per config, numbers measured on the earlier 22-document corpus, since grown to 36 indexed files.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idea. In OS tasks many answers are equally correct, yet a benchmark stores one as gold. We enumerated every valid answer for 24 tasks and varied the gold over 50,000 sampled reference sets, holding model outputs fixed. The validator E3 never sees a reference, so its result is the same by construction; the finding is the cost of not using it. Local models (floor): rankings are unstable (tau-b 0.62, winner reversals 17.56%) but most of that is near-ties; the real loss is detection: E3 finds qwen3 significantly better than two others in every draw while single-reference matching finds it in 5 of 50,000 draws and keeps only 12-18% of the true gap, as the law E[E2]=E3/|V| predicts. Follow-up: to answer the objection that weak models cause this, we froze four hypotheses in writing and ran four Claude models. Three held, one failed: floor gone (73-99% valid), detection loss persists (3.0%), canonical inflation 2.3-3.3 times uniform choice, but the 1.5-fold ranking distortion prediction failed (1.43). H3 caveat: the test that models differ in bias is weak by construction, so only inflation above 1 is claimed. Say clearly: empirical measurement study, one benchmark, internal preregistration, prevalence of single-reference scoring in real benchmarks not audited. The tutor transcript and tests are in the report, section 6.4.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messages: what exists, what the evidence says, what is not yet proven. The repository link goes to the code and to FINDINGS.md, which records every defect and refuted hypothesis with the measurement behind it. The research track (RCR) is in the report, sections 5.7 and 6.5, and in paper/PAPER_FINAL.md.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arXiv identifiers [1]-[6] were checked against arxiv.org on 2026-10-24; [7] and [8] are standard journal/textbook citations.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3657600" cy="822960"/>
          </a:xfrm>
          <a:prstGeom prst="rect">
            <a:avLst/>
          </a:prstGeom>
          <a:noFill/>
        </p:spPr>
        <p:txBody>
          <a:bodyPr wrap="square" lIns="45720" rIns="45720" tIns="27432" bIns="27432">
            <a:spAutoFit/>
          </a:bodyPr>
          <a:lstStyle/>
          <a:p>
            <a:r>
              <a:rPr sz="4400" b="1">
                <a:solidFill>
                  <a:srgbClr val="FFFFFF"/>
                </a:solidFill>
                <a:latin typeface="Calibri"/>
              </a:rPr>
              <a:t>VIT</a:t>
            </a:r>
          </a:p>
        </p:txBody>
      </p:sp>
      <p:sp>
        <p:nvSpPr>
          <p:cNvPr id="4" name="TextBox 3"/>
          <p:cNvSpPr txBox="1"/>
          <p:nvPr/>
        </p:nvSpPr>
        <p:spPr>
          <a:xfrm>
            <a:off x="731520" y="1143000"/>
            <a:ext cx="7315200" cy="365760"/>
          </a:xfrm>
          <a:prstGeom prst="rect">
            <a:avLst/>
          </a:prstGeom>
          <a:noFill/>
        </p:spPr>
        <p:txBody>
          <a:bodyPr wrap="square" lIns="45720" rIns="45720" tIns="27432" bIns="27432">
            <a:spAutoFit/>
          </a:bodyPr>
          <a:lstStyle/>
          <a:p>
            <a:r>
              <a:rPr sz="1400" b="0">
                <a:solidFill>
                  <a:srgbClr val="D5EBE7"/>
                </a:solidFill>
                <a:latin typeface="Calibri"/>
              </a:rPr>
              <a:t>Vellore Institute of Technology</a:t>
            </a:r>
          </a:p>
        </p:txBody>
      </p:sp>
      <p:sp>
        <p:nvSpPr>
          <p:cNvPr id="5" name="TextBox 4"/>
          <p:cNvSpPr txBox="1"/>
          <p:nvPr/>
        </p:nvSpPr>
        <p:spPr>
          <a:xfrm>
            <a:off x="731520" y="2011680"/>
            <a:ext cx="10515600" cy="1645920"/>
          </a:xfrm>
          <a:prstGeom prst="rect">
            <a:avLst/>
          </a:prstGeom>
          <a:noFill/>
        </p:spPr>
        <p:txBody>
          <a:bodyPr wrap="square" lIns="45720" rIns="45720" tIns="27432" bIns="27432">
            <a:spAutoFit/>
          </a:bodyPr>
          <a:lstStyle/>
          <a:p>
            <a:r>
              <a:rPr sz="5400" b="1">
                <a:solidFill>
                  <a:srgbClr val="FFFFFF"/>
                </a:solidFill>
                <a:latin typeface="Calibri"/>
              </a:rPr>
              <a:t>OS-Tutor-RAG</a:t>
            </a:r>
          </a:p>
        </p:txBody>
      </p:sp>
      <p:sp>
        <p:nvSpPr>
          <p:cNvPr id="6" name="TextBox 5"/>
          <p:cNvSpPr txBox="1"/>
          <p:nvPr/>
        </p:nvSpPr>
        <p:spPr>
          <a:xfrm>
            <a:off x="731520" y="2926080"/>
            <a:ext cx="10515600" cy="1097280"/>
          </a:xfrm>
          <a:prstGeom prst="rect">
            <a:avLst/>
          </a:prstGeom>
          <a:noFill/>
        </p:spPr>
        <p:txBody>
          <a:bodyPr wrap="square" lIns="45720" rIns="45720" tIns="27432" bIns="27432">
            <a:spAutoFit/>
          </a:bodyPr>
          <a:lstStyle/>
          <a:p>
            <a:r>
              <a:rPr sz="2400" b="0">
                <a:solidFill>
                  <a:srgbClr val="FFFFFF"/>
                </a:solidFill>
                <a:latin typeface="Calibri"/>
              </a:rPr>
              <a:t>A retrieval-augmented Socratic OS tutor, and a study of how the choice of gold reference changes benchmark conclusions</a:t>
            </a:r>
          </a:p>
        </p:txBody>
      </p:sp>
      <p:sp>
        <p:nvSpPr>
          <p:cNvPr id="7" name="TextBox 6"/>
          <p:cNvSpPr txBox="1"/>
          <p:nvPr/>
        </p:nvSpPr>
        <p:spPr>
          <a:xfrm>
            <a:off x="731520" y="4572000"/>
            <a:ext cx="6400800" cy="365760"/>
          </a:xfrm>
          <a:prstGeom prst="rect">
            <a:avLst/>
          </a:prstGeom>
          <a:noFill/>
        </p:spPr>
        <p:txBody>
          <a:bodyPr wrap="square" lIns="45720" rIns="45720" tIns="27432" bIns="27432">
            <a:spAutoFit/>
          </a:bodyPr>
          <a:lstStyle/>
          <a:p>
            <a:r>
              <a:rPr sz="1800" b="0">
                <a:solidFill>
                  <a:srgbClr val="FFFFFF"/>
                </a:solidFill>
                <a:latin typeface="Calibri"/>
              </a:rPr>
              <a:t>CC: BCSE307P     CN: Operating Systems</a:t>
            </a:r>
          </a:p>
        </p:txBody>
      </p:sp>
      <p:sp>
        <p:nvSpPr>
          <p:cNvPr id="8" name="TextBox 7"/>
          <p:cNvSpPr txBox="1"/>
          <p:nvPr/>
        </p:nvSpPr>
        <p:spPr>
          <a:xfrm>
            <a:off x="731520" y="5029200"/>
            <a:ext cx="8229600" cy="365760"/>
          </a:xfrm>
          <a:prstGeom prst="rect">
            <a:avLst/>
          </a:prstGeom>
          <a:noFill/>
        </p:spPr>
        <p:txBody>
          <a:bodyPr wrap="square" lIns="45720" rIns="45720" tIns="27432" bIns="27432">
            <a:spAutoFit/>
          </a:bodyPr>
          <a:lstStyle/>
          <a:p>
            <a:r>
              <a:rPr sz="1800" b="1">
                <a:solidFill>
                  <a:srgbClr val="FFFFFF"/>
                </a:solidFill>
                <a:latin typeface="Calibri"/>
              </a:rPr>
              <a:t>Adhyan Jain (24BCI0111)  ·  Atharva Sheersh Pandey (24BCI0069)</a:t>
            </a:r>
          </a:p>
        </p:txBody>
      </p:sp>
      <p:sp>
        <p:nvSpPr>
          <p:cNvPr id="9" name="TextBox 8"/>
          <p:cNvSpPr txBox="1"/>
          <p:nvPr/>
        </p:nvSpPr>
        <p:spPr>
          <a:xfrm>
            <a:off x="731520" y="5486400"/>
            <a:ext cx="8229600" cy="365760"/>
          </a:xfrm>
          <a:prstGeom prst="rect">
            <a:avLst/>
          </a:prstGeom>
          <a:noFill/>
        </p:spPr>
        <p:txBody>
          <a:bodyPr wrap="square" lIns="45720" rIns="45720" tIns="27432" bIns="27432">
            <a:spAutoFit/>
          </a:bodyPr>
          <a:lstStyle/>
          <a:p>
            <a:r>
              <a:rPr sz="1400" b="0">
                <a:solidFill>
                  <a:srgbClr val="D5EBE7"/>
                </a:solidFill>
                <a:latin typeface="Calibri"/>
              </a:rPr>
              <a:t>Faculty: Dr. Jagalingam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lIns="45720" rIns="45720" tIns="27432" bIns="27432">
            <a:spAutoFit/>
          </a:bodyPr>
          <a:lstStyle/>
          <a:p>
            <a:r>
              <a:rPr sz="3000" b="1">
                <a:solidFill>
                  <a:srgbClr val="1E2128"/>
                </a:solidFill>
                <a:latin typeface="Calibri"/>
              </a:rPr>
              <a:t>Introduction &amp; Objective</a:t>
            </a:r>
          </a:p>
        </p:txBody>
      </p:sp>
      <p:sp>
        <p:nvSpPr>
          <p:cNvPr id="4" name="TextBox 3"/>
          <p:cNvSpPr txBox="1"/>
          <p:nvPr/>
        </p:nvSpPr>
        <p:spPr>
          <a:xfrm>
            <a:off x="548640" y="914400"/>
            <a:ext cx="10972800" cy="365760"/>
          </a:xfrm>
          <a:prstGeom prst="rect">
            <a:avLst/>
          </a:prstGeom>
          <a:noFill/>
        </p:spPr>
        <p:txBody>
          <a:bodyPr wrap="square" lIns="45720" rIns="45720" tIns="27432" bIns="27432">
            <a:spAutoFit/>
          </a:bodyPr>
          <a:lstStyle/>
          <a:p>
            <a:r>
              <a:rPr sz="1500" b="0">
                <a:solidFill>
                  <a:srgbClr val="6B6F78"/>
                </a:solidFill>
                <a:latin typeface="Calibri"/>
              </a:rPr>
              <a:t>Why a grounded chatbot is not yet a tutor</a:t>
            </a:r>
          </a:p>
        </p:txBody>
      </p:sp>
      <p:sp>
        <p:nvSpPr>
          <p:cNvPr id="5" name="TextBox 4"/>
          <p:cNvSpPr txBox="1"/>
          <p:nvPr/>
        </p:nvSpPr>
        <p:spPr>
          <a:xfrm>
            <a:off x="548640" y="6446520"/>
            <a:ext cx="7315200" cy="274320"/>
          </a:xfrm>
          <a:prstGeom prst="rect">
            <a:avLst/>
          </a:prstGeom>
          <a:noFill/>
        </p:spPr>
        <p:txBody>
          <a:bodyPr wrap="square" lIns="45720" rIns="45720" tIns="27432" bIns="27432">
            <a:spAutoFit/>
          </a:bodyPr>
          <a:lstStyle/>
          <a:p>
            <a:r>
              <a:rPr sz="1000" b="0">
                <a:solidFill>
                  <a:srgbClr val="6B6F78"/>
                </a:solidFill>
                <a:latin typeface="Calibri"/>
              </a:rPr>
              <a:t>OS-Tutor-RAG · VIT</a:t>
            </a:r>
          </a:p>
        </p:txBody>
      </p:sp>
      <p:sp>
        <p:nvSpPr>
          <p:cNvPr id="6" name="TextBox 5"/>
          <p:cNvSpPr txBox="1"/>
          <p:nvPr/>
        </p:nvSpPr>
        <p:spPr>
          <a:xfrm>
            <a:off x="11155680" y="6446520"/>
            <a:ext cx="548640" cy="274320"/>
          </a:xfrm>
          <a:prstGeom prst="rect">
            <a:avLst/>
          </a:prstGeom>
          <a:noFill/>
        </p:spPr>
        <p:txBody>
          <a:bodyPr wrap="square" lIns="45720" rIns="45720" tIns="27432" bIns="27432">
            <a:spAutoFit/>
          </a:bodyPr>
          <a:lstStyle/>
          <a:p>
            <a:pPr algn="r"/>
            <a:r>
              <a:rPr sz="1000" b="0">
                <a:solidFill>
                  <a:srgbClr val="6B6F78"/>
                </a:solidFill>
                <a:latin typeface="Calibri"/>
              </a:rPr>
              <a:t>2</a:t>
            </a:r>
          </a:p>
        </p:txBody>
      </p:sp>
      <p:sp>
        <p:nvSpPr>
          <p:cNvPr id="7" name="TextBox 6"/>
          <p:cNvSpPr txBox="1"/>
          <p:nvPr/>
        </p:nvSpPr>
        <p:spPr>
          <a:xfrm>
            <a:off x="548640" y="1463040"/>
            <a:ext cx="5486400" cy="365760"/>
          </a:xfrm>
          <a:prstGeom prst="rect">
            <a:avLst/>
          </a:prstGeom>
          <a:noFill/>
        </p:spPr>
        <p:txBody>
          <a:bodyPr wrap="square" lIns="45720" rIns="45720" tIns="27432" bIns="27432">
            <a:spAutoFit/>
          </a:bodyPr>
          <a:lstStyle/>
          <a:p>
            <a:r>
              <a:rPr sz="2000" b="1">
                <a:solidFill>
                  <a:srgbClr val="0F766E"/>
                </a:solidFill>
                <a:latin typeface="Calibri"/>
              </a:rPr>
              <a:t>The problem</a:t>
            </a:r>
          </a:p>
        </p:txBody>
      </p:sp>
      <p:sp>
        <p:nvSpPr>
          <p:cNvPr id="8" name="TextBox 7"/>
          <p:cNvSpPr txBox="1"/>
          <p:nvPr/>
        </p:nvSpPr>
        <p:spPr>
          <a:xfrm>
            <a:off x="548640" y="1920240"/>
            <a:ext cx="5394960" cy="3108960"/>
          </a:xfrm>
          <a:prstGeom prst="rect">
            <a:avLst/>
          </a:prstGeom>
          <a:noFill/>
        </p:spPr>
        <p:txBody>
          <a:bodyPr wrap="square">
            <a:spAutoFit/>
          </a:bodyPr>
          <a:lstStyle/>
          <a:p>
            <a:pPr>
              <a:spcAft>
                <a:spcPts val="600"/>
              </a:spcAft>
            </a:pPr>
            <a:r>
              <a:rPr sz="1500" b="1">
                <a:solidFill>
                  <a:srgbClr val="0F766E"/>
                </a:solidFill>
                <a:latin typeface="Calibri"/>
              </a:rPr>
              <a:t>• </a:t>
            </a:r>
            <a:r>
              <a:rPr b="1" sz="1500">
                <a:solidFill>
                  <a:srgbClr val="1E2128"/>
                </a:solidFill>
                <a:latin typeface="Calibri"/>
              </a:rPr>
              <a:t>Slides are passive. </a:t>
            </a:r>
            <a:r>
              <a:rPr sz="1500">
                <a:solidFill>
                  <a:srgbClr val="1E2128"/>
                </a:solidFill>
                <a:latin typeface="Calibri"/>
              </a:rPr>
              <a:t>Terse decks and dense chapters never explain; they assume you know what to look for.</a:t>
            </a:r>
          </a:p>
          <a:p>
            <a:pPr>
              <a:spcAft>
                <a:spcPts val="600"/>
              </a:spcAft>
            </a:pPr>
            <a:r>
              <a:rPr sz="1500" b="1">
                <a:solidFill>
                  <a:srgbClr val="0F766E"/>
                </a:solidFill>
                <a:latin typeface="Calibri"/>
              </a:rPr>
              <a:t>• </a:t>
            </a:r>
            <a:r>
              <a:rPr b="1" sz="1500">
                <a:solidFill>
                  <a:srgbClr val="1E2128"/>
                </a:solidFill>
                <a:latin typeface="Calibri"/>
              </a:rPr>
              <a:t>General chatbots are ungrounded. </a:t>
            </a:r>
            <a:r>
              <a:rPr sz="1500">
                <a:solidFill>
                  <a:srgbClr val="1E2128"/>
                </a:solidFill>
                <a:latin typeface="Calibri"/>
              </a:rPr>
              <a:t>Fluent, but a student cannot tell an explanation from a plausible invention.</a:t>
            </a:r>
          </a:p>
          <a:p>
            <a:pPr>
              <a:spcAft>
                <a:spcPts val="600"/>
              </a:spcAft>
            </a:pPr>
            <a:r>
              <a:rPr sz="1500" b="1">
                <a:solidFill>
                  <a:srgbClr val="0F766E"/>
                </a:solidFill>
                <a:latin typeface="Calibri"/>
              </a:rPr>
              <a:t>• </a:t>
            </a:r>
            <a:r>
              <a:rPr b="1" sz="1500">
                <a:solidFill>
                  <a:srgbClr val="1E2128"/>
                </a:solidFill>
                <a:latin typeface="Calibri"/>
              </a:rPr>
              <a:t>Plain RAG is still a search box. </a:t>
            </a:r>
            <a:r>
              <a:rPr sz="1500">
                <a:solidFill>
                  <a:srgbClr val="1E2128"/>
                </a:solidFill>
                <a:latin typeface="Calibri"/>
              </a:rPr>
              <a:t>It answers what was asked and gives a beginner no way in.</a:t>
            </a:r>
          </a:p>
          <a:p>
            <a:pPr>
              <a:spcAft>
                <a:spcPts val="600"/>
              </a:spcAft>
            </a:pPr>
            <a:r>
              <a:rPr sz="1500" b="1">
                <a:solidFill>
                  <a:srgbClr val="0F766E"/>
                </a:solidFill>
                <a:latin typeface="Calibri"/>
              </a:rPr>
              <a:t>• </a:t>
            </a:r>
            <a:r>
              <a:rPr b="1" sz="1500">
                <a:solidFill>
                  <a:srgbClr val="1E2128"/>
                </a:solidFill>
                <a:latin typeface="Calibri"/>
              </a:rPr>
              <a:t>Benchmarks hide differences. </a:t>
            </a:r>
            <a:r>
              <a:rPr sz="1500">
                <a:solidFill>
                  <a:srgbClr val="1E2128"/>
                </a:solidFill>
                <a:latin typeface="Calibri"/>
              </a:rPr>
              <a:t>One stored gold answer per task is arbitrary when many answers are correct.</a:t>
            </a:r>
          </a:p>
        </p:txBody>
      </p:sp>
      <p:sp>
        <p:nvSpPr>
          <p:cNvPr id="9" name="Rectangle 8"/>
          <p:cNvSpPr/>
          <p:nvPr/>
        </p:nvSpPr>
        <p:spPr>
          <a:xfrm>
            <a:off x="548640" y="5029200"/>
            <a:ext cx="5394960" cy="1280160"/>
          </a:xfrm>
          <a:prstGeom prst="rect">
            <a:avLst/>
          </a:prstGeom>
          <a:solidFill>
            <a:srgbClr val="E3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5029200"/>
            <a:ext cx="64008" cy="12801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102352"/>
            <a:ext cx="5120640" cy="365760"/>
          </a:xfrm>
          <a:prstGeom prst="rect">
            <a:avLst/>
          </a:prstGeom>
          <a:noFill/>
        </p:spPr>
        <p:txBody>
          <a:bodyPr wrap="square" lIns="45720" rIns="45720" tIns="27432" bIns="27432">
            <a:spAutoFit/>
          </a:bodyPr>
          <a:lstStyle/>
          <a:p>
            <a:r>
              <a:rPr sz="1500" b="1">
                <a:solidFill>
                  <a:srgbClr val="0F766E"/>
                </a:solidFill>
                <a:latin typeface="Calibri"/>
              </a:rPr>
              <a:t>Our idea</a:t>
            </a:r>
          </a:p>
        </p:txBody>
      </p:sp>
      <p:sp>
        <p:nvSpPr>
          <p:cNvPr id="12" name="TextBox 11"/>
          <p:cNvSpPr txBox="1"/>
          <p:nvPr/>
        </p:nvSpPr>
        <p:spPr>
          <a:xfrm>
            <a:off x="731520" y="5486400"/>
            <a:ext cx="5120640" cy="777239"/>
          </a:xfrm>
          <a:prstGeom prst="rect">
            <a:avLst/>
          </a:prstGeom>
          <a:noFill/>
        </p:spPr>
        <p:txBody>
          <a:bodyPr wrap="square" lIns="45720" rIns="45720" tIns="27432" bIns="27432">
            <a:spAutoFit/>
          </a:bodyPr>
          <a:lstStyle/>
          <a:p>
            <a:r>
              <a:rPr sz="1300" b="0">
                <a:solidFill>
                  <a:srgbClr val="1E2128"/>
                </a:solidFill>
                <a:latin typeface="Calibri"/>
              </a:rPr>
              <a:t>Ground every answer in the course files and let tested code decide how to teach; measure the evaluation, including its reference choice.</a:t>
            </a:r>
          </a:p>
        </p:txBody>
      </p:sp>
      <p:sp>
        <p:nvSpPr>
          <p:cNvPr id="13" name="TextBox 12"/>
          <p:cNvSpPr txBox="1"/>
          <p:nvPr/>
        </p:nvSpPr>
        <p:spPr>
          <a:xfrm>
            <a:off x="6400800" y="1463040"/>
            <a:ext cx="5486400" cy="365760"/>
          </a:xfrm>
          <a:prstGeom prst="rect">
            <a:avLst/>
          </a:prstGeom>
          <a:noFill/>
        </p:spPr>
        <p:txBody>
          <a:bodyPr wrap="square" lIns="45720" rIns="45720" tIns="27432" bIns="27432">
            <a:spAutoFit/>
          </a:bodyPr>
          <a:lstStyle/>
          <a:p>
            <a:r>
              <a:rPr sz="2000" b="1">
                <a:solidFill>
                  <a:srgbClr val="0F766E"/>
                </a:solidFill>
                <a:latin typeface="Calibri"/>
              </a:rPr>
              <a:t>Objectives</a:t>
            </a:r>
          </a:p>
        </p:txBody>
      </p:sp>
      <p:sp>
        <p:nvSpPr>
          <p:cNvPr id="14" name="TextBox 13"/>
          <p:cNvSpPr txBox="1"/>
          <p:nvPr/>
        </p:nvSpPr>
        <p:spPr>
          <a:xfrm>
            <a:off x="6400800" y="1920240"/>
            <a:ext cx="5303520" cy="4389120"/>
          </a:xfrm>
          <a:prstGeom prst="rect">
            <a:avLst/>
          </a:prstGeom>
          <a:noFill/>
        </p:spPr>
        <p:txBody>
          <a:bodyPr wrap="square">
            <a:spAutoFit/>
          </a:bodyPr>
          <a:lstStyle/>
          <a:p>
            <a:pPr>
              <a:spcAft>
                <a:spcPts val="600"/>
              </a:spcAft>
            </a:pPr>
            <a:r>
              <a:rPr sz="1400" b="1">
                <a:solidFill>
                  <a:srgbClr val="0F766E"/>
                </a:solidFill>
                <a:latin typeface="Calibri"/>
              </a:rPr>
              <a:t>• </a:t>
            </a:r>
            <a:r>
              <a:rPr b="1" sz="1400">
                <a:solidFill>
                  <a:srgbClr val="1E2128"/>
                </a:solidFill>
                <a:latin typeface="Calibri"/>
              </a:rPr>
              <a:t>O1 </a:t>
            </a:r>
            <a:r>
              <a:rPr sz="1400">
                <a:solidFill>
                  <a:srgbClr val="1E2128"/>
                </a:solidFill>
                <a:latin typeface="Calibri"/>
              </a:rPr>
              <a:t>Index PPTX, PDF and DOCX without silently losing content.</a:t>
            </a:r>
          </a:p>
          <a:p>
            <a:pPr>
              <a:spcAft>
                <a:spcPts val="600"/>
              </a:spcAft>
            </a:pPr>
            <a:r>
              <a:rPr sz="1400" b="1">
                <a:solidFill>
                  <a:srgbClr val="0F766E"/>
                </a:solidFill>
                <a:latin typeface="Calibri"/>
              </a:rPr>
              <a:t>• </a:t>
            </a:r>
            <a:r>
              <a:rPr b="1" sz="1400">
                <a:solidFill>
                  <a:srgbClr val="1E2128"/>
                </a:solidFill>
                <a:latin typeface="Calibri"/>
              </a:rPr>
              <a:t>O2 </a:t>
            </a:r>
            <a:r>
              <a:rPr sz="1400">
                <a:solidFill>
                  <a:srgbClr val="1E2128"/>
                </a:solidFill>
                <a:latin typeface="Calibri"/>
              </a:rPr>
              <a:t>Compare chunking, retrieval, reranking and prompts on a 26-question golden set; adopt only what measures better.</a:t>
            </a:r>
          </a:p>
          <a:p>
            <a:pPr>
              <a:spcAft>
                <a:spcPts val="600"/>
              </a:spcAft>
            </a:pPr>
            <a:r>
              <a:rPr sz="1400" b="1">
                <a:solidFill>
                  <a:srgbClr val="0F766E"/>
                </a:solidFill>
                <a:latin typeface="Calibri"/>
              </a:rPr>
              <a:t>• </a:t>
            </a:r>
            <a:r>
              <a:rPr b="1" sz="1400">
                <a:solidFill>
                  <a:srgbClr val="1E2128"/>
                </a:solidFill>
                <a:latin typeface="Calibri"/>
              </a:rPr>
              <a:t>O3 </a:t>
            </a:r>
            <a:r>
              <a:rPr sz="1400">
                <a:solidFill>
                  <a:srgbClr val="1E2128"/>
                </a:solidFill>
                <a:latin typeface="Calibri"/>
              </a:rPr>
              <a:t>Measure the evaluation's own noise so small differences are not over-read.</a:t>
            </a:r>
          </a:p>
          <a:p>
            <a:pPr>
              <a:spcAft>
                <a:spcPts val="600"/>
              </a:spcAft>
            </a:pPr>
            <a:r>
              <a:rPr sz="1400" b="1">
                <a:solidFill>
                  <a:srgbClr val="0F766E"/>
                </a:solidFill>
                <a:latin typeface="Calibri"/>
              </a:rPr>
              <a:t>• </a:t>
            </a:r>
            <a:r>
              <a:rPr b="1" sz="1400">
                <a:solidFill>
                  <a:srgbClr val="1E2128"/>
                </a:solidFill>
                <a:latin typeface="Calibri"/>
              </a:rPr>
              <a:t>O4 </a:t>
            </a:r>
            <a:r>
              <a:rPr sz="1400">
                <a:solidFill>
                  <a:srgbClr val="1E2128"/>
                </a:solidFill>
                <a:latin typeface="Calibri"/>
              </a:rPr>
              <a:t>Streaming chat: ELI5 / undergrad / exam-prep levels, cited sources.</a:t>
            </a:r>
          </a:p>
          <a:p>
            <a:pPr>
              <a:spcAft>
                <a:spcPts val="600"/>
              </a:spcAft>
            </a:pPr>
            <a:r>
              <a:rPr sz="1400" b="1">
                <a:solidFill>
                  <a:srgbClr val="0F766E"/>
                </a:solidFill>
                <a:latin typeface="Calibri"/>
              </a:rPr>
              <a:t>• </a:t>
            </a:r>
            <a:r>
              <a:rPr b="1" sz="1400">
                <a:solidFill>
                  <a:srgbClr val="1E2128"/>
                </a:solidFill>
                <a:latin typeface="Calibri"/>
              </a:rPr>
              <a:t>O5 </a:t>
            </a:r>
            <a:r>
              <a:rPr sz="1400">
                <a:solidFill>
                  <a:srgbClr val="1E2128"/>
                </a:solidFill>
                <a:latin typeface="Calibri"/>
              </a:rPr>
              <a:t>Socratic tutor: 30 concepts, 96 graded questions, hint → scaffold → explain, 16 misconception probes, quiz mode, kind handling of struggle and distress.</a:t>
            </a:r>
          </a:p>
          <a:p>
            <a:pPr>
              <a:spcAft>
                <a:spcPts val="600"/>
              </a:spcAft>
            </a:pPr>
            <a:r>
              <a:rPr sz="1400" b="1">
                <a:solidFill>
                  <a:srgbClr val="0F766E"/>
                </a:solidFill>
                <a:latin typeface="Calibri"/>
              </a:rPr>
              <a:t>• </a:t>
            </a:r>
            <a:r>
              <a:rPr b="1" sz="1400">
                <a:solidFill>
                  <a:srgbClr val="1E2128"/>
                </a:solidFill>
                <a:latin typeface="Calibri"/>
              </a:rPr>
              <a:t>O6 </a:t>
            </a:r>
            <a:r>
              <a:rPr sz="1400">
                <a:solidFill>
                  <a:srgbClr val="1E2128"/>
                </a:solidFill>
                <a:latin typeface="Calibri"/>
              </a:rPr>
              <a:t>Orientation, learning path, starter and follow-up chips for a student who knows nothing.</a:t>
            </a:r>
          </a:p>
          <a:p>
            <a:pPr>
              <a:spcAft>
                <a:spcPts val="600"/>
              </a:spcAft>
            </a:pPr>
            <a:r>
              <a:rPr sz="1400" b="1">
                <a:solidFill>
                  <a:srgbClr val="0F766E"/>
                </a:solidFill>
                <a:latin typeface="Calibri"/>
              </a:rPr>
              <a:t>• </a:t>
            </a:r>
            <a:r>
              <a:rPr b="1" sz="1400">
                <a:solidFill>
                  <a:srgbClr val="1E2128"/>
                </a:solidFill>
                <a:latin typeface="Calibri"/>
              </a:rPr>
              <a:t>O7 </a:t>
            </a:r>
            <a:r>
              <a:rPr sz="1400">
                <a:solidFill>
                  <a:srgbClr val="1E2128"/>
                </a:solidFill>
                <a:latin typeface="Calibri"/>
              </a:rPr>
              <a:t>Research: measure how much scores, rankings and significance change when only the gold reference is swapped for another valid answer (RCR), and test it on stronger models.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lIns="45720" rIns="45720" tIns="27432" bIns="27432">
            <a:spAutoFit/>
          </a:bodyPr>
          <a:lstStyle/>
          <a:p>
            <a:r>
              <a:rPr sz="3000" b="1">
                <a:solidFill>
                  <a:srgbClr val="1E2128"/>
                </a:solidFill>
                <a:latin typeface="Calibri"/>
              </a:rPr>
              <a:t>Methodology</a:t>
            </a:r>
          </a:p>
        </p:txBody>
      </p:sp>
      <p:sp>
        <p:nvSpPr>
          <p:cNvPr id="4" name="TextBox 3"/>
          <p:cNvSpPr txBox="1"/>
          <p:nvPr/>
        </p:nvSpPr>
        <p:spPr>
          <a:xfrm>
            <a:off x="548640" y="914400"/>
            <a:ext cx="10972800" cy="365760"/>
          </a:xfrm>
          <a:prstGeom prst="rect">
            <a:avLst/>
          </a:prstGeom>
          <a:noFill/>
        </p:spPr>
        <p:txBody>
          <a:bodyPr wrap="square" lIns="45720" rIns="45720" tIns="27432" bIns="27432">
            <a:spAutoFit/>
          </a:bodyPr>
          <a:lstStyle/>
          <a:p>
            <a:r>
              <a:rPr sz="1500" b="0">
                <a:solidFill>
                  <a:srgbClr val="6B6F78"/>
                </a:solidFill>
                <a:latin typeface="Calibri"/>
              </a:rPr>
              <a:t>The tutoring layer wraps the RAG pipeline on every turn</a:t>
            </a:r>
          </a:p>
        </p:txBody>
      </p:sp>
      <p:sp>
        <p:nvSpPr>
          <p:cNvPr id="5" name="TextBox 4"/>
          <p:cNvSpPr txBox="1"/>
          <p:nvPr/>
        </p:nvSpPr>
        <p:spPr>
          <a:xfrm>
            <a:off x="548640" y="6446520"/>
            <a:ext cx="7315200" cy="274320"/>
          </a:xfrm>
          <a:prstGeom prst="rect">
            <a:avLst/>
          </a:prstGeom>
          <a:noFill/>
        </p:spPr>
        <p:txBody>
          <a:bodyPr wrap="square" lIns="45720" rIns="45720" tIns="27432" bIns="27432">
            <a:spAutoFit/>
          </a:bodyPr>
          <a:lstStyle/>
          <a:p>
            <a:r>
              <a:rPr sz="1000" b="0">
                <a:solidFill>
                  <a:srgbClr val="6B6F78"/>
                </a:solidFill>
                <a:latin typeface="Calibri"/>
              </a:rPr>
              <a:t>OS-Tutor-RAG · VIT</a:t>
            </a:r>
          </a:p>
        </p:txBody>
      </p:sp>
      <p:sp>
        <p:nvSpPr>
          <p:cNvPr id="6" name="TextBox 5"/>
          <p:cNvSpPr txBox="1"/>
          <p:nvPr/>
        </p:nvSpPr>
        <p:spPr>
          <a:xfrm>
            <a:off x="11155680" y="6446520"/>
            <a:ext cx="548640" cy="274320"/>
          </a:xfrm>
          <a:prstGeom prst="rect">
            <a:avLst/>
          </a:prstGeom>
          <a:noFill/>
        </p:spPr>
        <p:txBody>
          <a:bodyPr wrap="square" lIns="45720" rIns="45720" tIns="27432" bIns="27432">
            <a:spAutoFit/>
          </a:bodyPr>
          <a:lstStyle/>
          <a:p>
            <a:pPr algn="r"/>
            <a:r>
              <a:rPr sz="1000" b="0">
                <a:solidFill>
                  <a:srgbClr val="6B6F78"/>
                </a:solidFill>
                <a:latin typeface="Calibri"/>
              </a:rPr>
              <a:t>3</a:t>
            </a:r>
          </a:p>
        </p:txBody>
      </p:sp>
      <p:pic>
        <p:nvPicPr>
          <p:cNvPr id="7" name="Picture 6" descr="architecture.png"/>
          <p:cNvPicPr>
            <a:picLocks noChangeAspect="1"/>
          </p:cNvPicPr>
          <p:nvPr/>
        </p:nvPicPr>
        <p:blipFill>
          <a:blip r:embed="rId2"/>
          <a:stretch>
            <a:fillRect/>
          </a:stretch>
        </p:blipFill>
        <p:spPr>
          <a:xfrm>
            <a:off x="2331720" y="1234440"/>
            <a:ext cx="7498079" cy="3779274"/>
          </a:xfrm>
          <a:prstGeom prst="rect">
            <a:avLst/>
          </a:prstGeom>
        </p:spPr>
      </p:pic>
      <p:sp>
        <p:nvSpPr>
          <p:cNvPr id="8" name="TextBox 7"/>
          <p:cNvSpPr txBox="1"/>
          <p:nvPr/>
        </p:nvSpPr>
        <p:spPr>
          <a:xfrm>
            <a:off x="548640" y="5074920"/>
            <a:ext cx="11155680" cy="320040"/>
          </a:xfrm>
          <a:prstGeom prst="rect">
            <a:avLst/>
          </a:prstGeom>
          <a:noFill/>
        </p:spPr>
        <p:txBody>
          <a:bodyPr wrap="square" lIns="45720" rIns="45720" tIns="27432" bIns="27432">
            <a:spAutoFit/>
          </a:bodyPr>
          <a:lstStyle/>
          <a:p>
            <a:pPr algn="ctr"/>
            <a:r>
              <a:rPr sz="1200" b="1">
                <a:solidFill>
                  <a:srgbClr val="0F766E"/>
                </a:solidFill>
                <a:latin typeface="Calibri"/>
              </a:rPr>
              <a:t>Chatbot: small-to-big retrieval (match small chunks, read the parent slide)  ·  policy in code (state, grading, next question)  ·  the model only phrases</a:t>
            </a:r>
          </a:p>
        </p:txBody>
      </p:sp>
      <p:sp>
        <p:nvSpPr>
          <p:cNvPr id="9" name="Rectangle 8"/>
          <p:cNvSpPr/>
          <p:nvPr/>
        </p:nvSpPr>
        <p:spPr>
          <a:xfrm>
            <a:off x="548640" y="5440680"/>
            <a:ext cx="11064240" cy="914400"/>
          </a:xfrm>
          <a:prstGeom prst="rect">
            <a:avLst/>
          </a:prstGeom>
          <a:solidFill>
            <a:srgbClr val="E3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5440680"/>
            <a:ext cx="64008" cy="914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468112"/>
            <a:ext cx="10789920" cy="868680"/>
          </a:xfrm>
          <a:prstGeom prst="rect">
            <a:avLst/>
          </a:prstGeom>
          <a:noFill/>
        </p:spPr>
        <p:txBody>
          <a:bodyPr wrap="square" lIns="45720" rIns="45720" tIns="27432" bIns="27432">
            <a:spAutoFit/>
          </a:bodyPr>
          <a:lstStyle/>
          <a:p>
            <a:r>
              <a:rPr sz="1200" b="0">
                <a:solidFill>
                  <a:srgbClr val="1E2128"/>
                </a:solidFill>
                <a:latin typeface="Calibri"/>
              </a:rPr>
              <a:t>Research protocol (RCR): 24 executable OS tasks (scheduling, synchronisation, Banker's) · every valid answer V(x) enumerated · three evaluators: E1 exact match, E2 normalised match against ONE reference, E3 validator that replays the answer and never sees a reference · 50,000 sampled reference sets · 4 local models + 4 Claude models (1,152 generations each) · world-level sign-flip test, Holm correction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lIns="45720" rIns="45720" tIns="27432" bIns="27432">
            <a:spAutoFit/>
          </a:bodyPr>
          <a:lstStyle/>
          <a:p>
            <a:r>
              <a:rPr sz="3000" b="1">
                <a:solidFill>
                  <a:srgbClr val="1E2128"/>
                </a:solidFill>
                <a:latin typeface="Calibri"/>
              </a:rPr>
              <a:t>Results &amp; Discussion (1/2): The chatbot, prompt and RAG findings</a:t>
            </a:r>
          </a:p>
        </p:txBody>
      </p:sp>
      <p:sp>
        <p:nvSpPr>
          <p:cNvPr id="4" name="TextBox 3"/>
          <p:cNvSpPr txBox="1"/>
          <p:nvPr/>
        </p:nvSpPr>
        <p:spPr>
          <a:xfrm>
            <a:off x="548640" y="914400"/>
            <a:ext cx="10972800" cy="365760"/>
          </a:xfrm>
          <a:prstGeom prst="rect">
            <a:avLst/>
          </a:prstGeom>
          <a:noFill/>
        </p:spPr>
        <p:txBody>
          <a:bodyPr wrap="square" lIns="45720" rIns="45720" tIns="27432" bIns="27432">
            <a:spAutoFit/>
          </a:bodyPr>
          <a:lstStyle/>
          <a:p>
            <a:r>
              <a:rPr sz="1500" b="0">
                <a:solidFill>
                  <a:srgbClr val="6B6F78"/>
                </a:solidFill>
                <a:latin typeface="Calibri"/>
              </a:rPr>
              <a:t>Measurement overturned the plan: fixing defects and the prompt beat choosing techniques</a:t>
            </a:r>
          </a:p>
        </p:txBody>
      </p:sp>
      <p:sp>
        <p:nvSpPr>
          <p:cNvPr id="5" name="TextBox 4"/>
          <p:cNvSpPr txBox="1"/>
          <p:nvPr/>
        </p:nvSpPr>
        <p:spPr>
          <a:xfrm>
            <a:off x="548640" y="6446520"/>
            <a:ext cx="7315200" cy="274320"/>
          </a:xfrm>
          <a:prstGeom prst="rect">
            <a:avLst/>
          </a:prstGeom>
          <a:noFill/>
        </p:spPr>
        <p:txBody>
          <a:bodyPr wrap="square" lIns="45720" rIns="45720" tIns="27432" bIns="27432">
            <a:spAutoFit/>
          </a:bodyPr>
          <a:lstStyle/>
          <a:p>
            <a:r>
              <a:rPr sz="1000" b="0">
                <a:solidFill>
                  <a:srgbClr val="6B6F78"/>
                </a:solidFill>
                <a:latin typeface="Calibri"/>
              </a:rPr>
              <a:t>OS-Tutor-RAG · VIT</a:t>
            </a:r>
          </a:p>
        </p:txBody>
      </p:sp>
      <p:sp>
        <p:nvSpPr>
          <p:cNvPr id="6" name="TextBox 5"/>
          <p:cNvSpPr txBox="1"/>
          <p:nvPr/>
        </p:nvSpPr>
        <p:spPr>
          <a:xfrm>
            <a:off x="11155680" y="6446520"/>
            <a:ext cx="548640" cy="274320"/>
          </a:xfrm>
          <a:prstGeom prst="rect">
            <a:avLst/>
          </a:prstGeom>
          <a:noFill/>
        </p:spPr>
        <p:txBody>
          <a:bodyPr wrap="square" lIns="45720" rIns="45720" tIns="27432" bIns="27432">
            <a:spAutoFit/>
          </a:bodyPr>
          <a:lstStyle/>
          <a:p>
            <a:pPr algn="r"/>
            <a:r>
              <a:rPr sz="1000" b="0">
                <a:solidFill>
                  <a:srgbClr val="6B6F78"/>
                </a:solidFill>
                <a:latin typeface="Calibri"/>
              </a:rPr>
              <a:t>4</a:t>
            </a:r>
          </a:p>
        </p:txBody>
      </p:sp>
      <p:sp>
        <p:nvSpPr>
          <p:cNvPr id="7" name="TextBox 6"/>
          <p:cNvSpPr txBox="1"/>
          <p:nvPr/>
        </p:nvSpPr>
        <p:spPr>
          <a:xfrm>
            <a:off x="457200" y="1371600"/>
            <a:ext cx="4480560" cy="320040"/>
          </a:xfrm>
          <a:prstGeom prst="rect">
            <a:avLst/>
          </a:prstGeom>
          <a:noFill/>
        </p:spPr>
        <p:txBody>
          <a:bodyPr wrap="square" lIns="45720" rIns="45720" tIns="27432" bIns="27432">
            <a:spAutoFit/>
          </a:bodyPr>
          <a:lstStyle/>
          <a:p>
            <a:r>
              <a:rPr sz="1500" b="1">
                <a:solidFill>
                  <a:srgbClr val="0F766E"/>
                </a:solidFill>
                <a:latin typeface="Calibri"/>
              </a:rPr>
              <a:t>Scored prompt ("few_shot")</a:t>
            </a:r>
          </a:p>
        </p:txBody>
      </p:sp>
      <p:sp>
        <p:nvSpPr>
          <p:cNvPr id="8" name="Rectangle 7"/>
          <p:cNvSpPr/>
          <p:nvPr/>
        </p:nvSpPr>
        <p:spPr>
          <a:xfrm>
            <a:off x="457200" y="1719072"/>
            <a:ext cx="4572000" cy="2331720"/>
          </a:xfrm>
          <a:prstGeom prst="rect">
            <a:avLst/>
          </a:prstGeom>
          <a:solidFill>
            <a:srgbClr val="F0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737360"/>
            <a:ext cx="4480560" cy="2286000"/>
          </a:xfrm>
          <a:prstGeom prst="rect">
            <a:avLst/>
          </a:prstGeom>
          <a:noFill/>
        </p:spPr>
        <p:txBody>
          <a:bodyPr wrap="square" lIns="45720" rIns="45720" tIns="27432" bIns="27432">
            <a:spAutoFit/>
          </a:bodyPr>
          <a:lstStyle/>
          <a:p>
            <a:r>
              <a:rPr sz="950" b="0">
                <a:solidFill>
                  <a:srgbClr val="1E2128"/>
                </a:solidFill>
                <a:latin typeface="Courier New"/>
              </a:rPr>
              <a:t>Answer the question using only the context
below. If the context doesn't contain the
answer, say so.
Answer in continuous prose, stating each fact
once. Do not add preamble about the context.
Example question: What are user mode and
kernel mode?
Example answer: CPU hardware has multiple
privilege levels: user mode runs user code,
and kernel mode runs OS code ...
Context: {context}  Question: {query}</a:t>
            </a:r>
          </a:p>
        </p:txBody>
      </p:sp>
      <p:sp>
        <p:nvSpPr>
          <p:cNvPr id="10" name="TextBox 9"/>
          <p:cNvSpPr txBox="1"/>
          <p:nvPr/>
        </p:nvSpPr>
        <p:spPr>
          <a:xfrm>
            <a:off x="457200" y="4114800"/>
            <a:ext cx="4572000" cy="1371600"/>
          </a:xfrm>
          <a:prstGeom prst="rect">
            <a:avLst/>
          </a:prstGeom>
          <a:noFill/>
        </p:spPr>
        <p:txBody>
          <a:bodyPr wrap="square" lIns="45720" rIns="45720" tIns="27432" bIns="27432">
            <a:spAutoFit/>
          </a:bodyPr>
          <a:lstStyle/>
          <a:p>
            <a:r>
              <a:rPr sz="1150" b="0">
                <a:solidFill>
                  <a:srgbClr val="1E2128"/>
                </a:solidFill>
                <a:latin typeface="Calibri"/>
              </a:rPr>
              <a:t>Scoring: RAGAS, judge qwen2.5:7b (a different model family from the llama3 generator). Per question the judge sees question, retrieved contexts, answer and ground truth; answer_correctness is an F1 over statements. 26 questions, 5 topics.</a:t>
            </a:r>
          </a:p>
        </p:txBody>
      </p:sp>
      <p:sp>
        <p:nvSpPr>
          <p:cNvPr id="11" name="TextBox 10"/>
          <p:cNvSpPr txBox="1"/>
          <p:nvPr/>
        </p:nvSpPr>
        <p:spPr>
          <a:xfrm>
            <a:off x="457200" y="5440680"/>
            <a:ext cx="4572000" cy="914400"/>
          </a:xfrm>
          <a:prstGeom prst="rect">
            <a:avLst/>
          </a:prstGeom>
          <a:noFill/>
        </p:spPr>
        <p:txBody>
          <a:bodyPr wrap="square" lIns="45720" rIns="45720" tIns="27432" bIns="27432">
            <a:spAutoFit/>
          </a:bodyPr>
          <a:lstStyle/>
          <a:p>
            <a:r>
              <a:rPr sz="1100" b="1">
                <a:solidFill>
                  <a:srgbClr val="B3441F"/>
                </a:solidFill>
                <a:latin typeface="Calibri"/>
              </a:rPr>
              <a:t>The app's teaching prompt (explain first; the tutor appends the question) is a different prompt and was not RAGAS-scored.</a:t>
            </a:r>
          </a:p>
        </p:txBody>
      </p:sp>
      <p:pic>
        <p:nvPicPr>
          <p:cNvPr id="12" name="Picture 11" descr="ablation.png"/>
          <p:cNvPicPr>
            <a:picLocks noChangeAspect="1"/>
          </p:cNvPicPr>
          <p:nvPr/>
        </p:nvPicPr>
        <p:blipFill>
          <a:blip r:embed="rId2"/>
          <a:stretch>
            <a:fillRect/>
          </a:stretch>
        </p:blipFill>
        <p:spPr>
          <a:xfrm>
            <a:off x="5486400" y="1280160"/>
            <a:ext cx="6035040" cy="3319272"/>
          </a:xfrm>
          <a:prstGeom prst="rect">
            <a:avLst/>
          </a:prstGeom>
        </p:spPr>
      </p:pic>
      <p:sp>
        <p:nvSpPr>
          <p:cNvPr id="13" name="Rectangle 12"/>
          <p:cNvSpPr/>
          <p:nvPr/>
        </p:nvSpPr>
        <p:spPr>
          <a:xfrm>
            <a:off x="5257800" y="4800600"/>
            <a:ext cx="2103120" cy="1508760"/>
          </a:xfrm>
          <a:prstGeom prst="rect">
            <a:avLst/>
          </a:prstGeom>
          <a:solidFill>
            <a:srgbClr val="E3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57800" y="4800600"/>
            <a:ext cx="64008" cy="15087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40680" y="4873752"/>
            <a:ext cx="1828799" cy="365760"/>
          </a:xfrm>
          <a:prstGeom prst="rect">
            <a:avLst/>
          </a:prstGeom>
          <a:noFill/>
        </p:spPr>
        <p:txBody>
          <a:bodyPr wrap="square" lIns="45720" rIns="45720" tIns="27432" bIns="27432">
            <a:spAutoFit/>
          </a:bodyPr>
          <a:lstStyle/>
          <a:p>
            <a:r>
              <a:rPr sz="1500" b="1">
                <a:solidFill>
                  <a:srgbClr val="0F766E"/>
                </a:solidFill>
                <a:latin typeface="Calibri"/>
              </a:rPr>
              <a:t>Defects</a:t>
            </a:r>
          </a:p>
        </p:txBody>
      </p:sp>
      <p:sp>
        <p:nvSpPr>
          <p:cNvPr id="16" name="TextBox 15"/>
          <p:cNvSpPr txBox="1"/>
          <p:nvPr/>
        </p:nvSpPr>
        <p:spPr>
          <a:xfrm>
            <a:off x="5440680" y="5257800"/>
            <a:ext cx="1828799" cy="1005839"/>
          </a:xfrm>
          <a:prstGeom prst="rect">
            <a:avLst/>
          </a:prstGeom>
          <a:noFill/>
        </p:spPr>
        <p:txBody>
          <a:bodyPr wrap="square" lIns="45720" rIns="45720" tIns="27432" bIns="27432">
            <a:spAutoFit/>
          </a:bodyPr>
          <a:lstStyle/>
          <a:p>
            <a:r>
              <a:rPr sz="1100" b="0">
                <a:solidFill>
                  <a:srgbClr val="1E2128"/>
                </a:solidFill>
                <a:latin typeface="Calibri"/>
              </a:rPr>
              <a:t>Titles indexed as chunks: refusals 11.7% → ~0% once fixed.</a:t>
            </a:r>
          </a:p>
        </p:txBody>
      </p:sp>
      <p:sp>
        <p:nvSpPr>
          <p:cNvPr id="17" name="Rectangle 16"/>
          <p:cNvSpPr/>
          <p:nvPr/>
        </p:nvSpPr>
        <p:spPr>
          <a:xfrm>
            <a:off x="7498079" y="4800600"/>
            <a:ext cx="2103120" cy="1508760"/>
          </a:xfrm>
          <a:prstGeom prst="rect">
            <a:avLst/>
          </a:prstGeom>
          <a:solidFill>
            <a:srgbClr val="E3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98079" y="4800600"/>
            <a:ext cx="64008" cy="15087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59" y="4873752"/>
            <a:ext cx="1828799" cy="365760"/>
          </a:xfrm>
          <a:prstGeom prst="rect">
            <a:avLst/>
          </a:prstGeom>
          <a:noFill/>
        </p:spPr>
        <p:txBody>
          <a:bodyPr wrap="square" lIns="45720" rIns="45720" tIns="27432" bIns="27432">
            <a:spAutoFit/>
          </a:bodyPr>
          <a:lstStyle/>
          <a:p>
            <a:r>
              <a:rPr sz="1500" b="1">
                <a:solidFill>
                  <a:srgbClr val="0F766E"/>
                </a:solidFill>
                <a:latin typeface="Calibri"/>
              </a:rPr>
              <a:t>Prompt shape</a:t>
            </a:r>
          </a:p>
        </p:txBody>
      </p:sp>
      <p:sp>
        <p:nvSpPr>
          <p:cNvPr id="20" name="TextBox 19"/>
          <p:cNvSpPr txBox="1"/>
          <p:nvPr/>
        </p:nvSpPr>
        <p:spPr>
          <a:xfrm>
            <a:off x="7680959" y="5257800"/>
            <a:ext cx="1828799" cy="1005839"/>
          </a:xfrm>
          <a:prstGeom prst="rect">
            <a:avLst/>
          </a:prstGeom>
          <a:noFill/>
        </p:spPr>
        <p:txBody>
          <a:bodyPr wrap="square" lIns="45720" rIns="45720" tIns="27432" bIns="27432">
            <a:spAutoFit/>
          </a:bodyPr>
          <a:lstStyle/>
          <a:p>
            <a:r>
              <a:rPr sz="1100" b="0">
                <a:solidFill>
                  <a:srgbClr val="1E2128"/>
                </a:solidFill>
                <a:latin typeface="Calibri"/>
              </a:rPr>
              <a:t>+0.092 few_shot; CoT −0.059 (answers 27% shorter).</a:t>
            </a:r>
          </a:p>
        </p:txBody>
      </p:sp>
      <p:sp>
        <p:nvSpPr>
          <p:cNvPr id="21" name="Rectangle 20"/>
          <p:cNvSpPr/>
          <p:nvPr/>
        </p:nvSpPr>
        <p:spPr>
          <a:xfrm>
            <a:off x="9738360" y="4800600"/>
            <a:ext cx="2011680" cy="1508760"/>
          </a:xfrm>
          <a:prstGeom prst="rect">
            <a:avLst/>
          </a:prstGeom>
          <a:solidFill>
            <a:srgbClr val="E3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738360" y="4800600"/>
            <a:ext cx="64008" cy="15087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21240" y="4873752"/>
            <a:ext cx="1737360" cy="365760"/>
          </a:xfrm>
          <a:prstGeom prst="rect">
            <a:avLst/>
          </a:prstGeom>
          <a:noFill/>
        </p:spPr>
        <p:txBody>
          <a:bodyPr wrap="square" lIns="45720" rIns="45720" tIns="27432" bIns="27432">
            <a:spAutoFit/>
          </a:bodyPr>
          <a:lstStyle/>
          <a:p>
            <a:r>
              <a:rPr sz="1500" b="1">
                <a:solidFill>
                  <a:srgbClr val="0F766E"/>
                </a:solidFill>
                <a:latin typeface="Calibri"/>
              </a:rPr>
              <a:t>Noise ±0.027</a:t>
            </a:r>
          </a:p>
        </p:txBody>
      </p:sp>
      <p:sp>
        <p:nvSpPr>
          <p:cNvPr id="24" name="TextBox 23"/>
          <p:cNvSpPr txBox="1"/>
          <p:nvPr/>
        </p:nvSpPr>
        <p:spPr>
          <a:xfrm>
            <a:off x="9921240" y="5257800"/>
            <a:ext cx="1737360" cy="1005839"/>
          </a:xfrm>
          <a:prstGeom prst="rect">
            <a:avLst/>
          </a:prstGeom>
          <a:noFill/>
        </p:spPr>
        <p:txBody>
          <a:bodyPr wrap="square" lIns="45720" rIns="45720" tIns="27432" bIns="27432">
            <a:spAutoFit/>
          </a:bodyPr>
          <a:lstStyle/>
          <a:p>
            <a:r>
              <a:rPr sz="1100" b="0">
                <a:solidFill>
                  <a:srgbClr val="1E2128"/>
                </a:solidFill>
                <a:latin typeface="Calibri"/>
              </a:rPr>
              <a:t>Same config scored 0.7752 and 0.7478. Dense R@5 = 1.000.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lIns="45720" rIns="45720" tIns="27432" bIns="27432">
            <a:spAutoFit/>
          </a:bodyPr>
          <a:lstStyle/>
          <a:p>
            <a:r>
              <a:rPr sz="3000" b="1">
                <a:solidFill>
                  <a:srgbClr val="1E2128"/>
                </a:solidFill>
                <a:latin typeface="Calibri"/>
              </a:rPr>
              <a:t>Results &amp; Discussion (2/2): Research track (RCR)</a:t>
            </a:r>
          </a:p>
        </p:txBody>
      </p:sp>
      <p:sp>
        <p:nvSpPr>
          <p:cNvPr id="4" name="TextBox 3"/>
          <p:cNvSpPr txBox="1"/>
          <p:nvPr/>
        </p:nvSpPr>
        <p:spPr>
          <a:xfrm>
            <a:off x="548640" y="914400"/>
            <a:ext cx="10972800" cy="365760"/>
          </a:xfrm>
          <a:prstGeom prst="rect">
            <a:avLst/>
          </a:prstGeom>
          <a:noFill/>
        </p:spPr>
        <p:txBody>
          <a:bodyPr wrap="square" lIns="45720" rIns="45720" tIns="27432" bIns="27432">
            <a:spAutoFit/>
          </a:bodyPr>
          <a:lstStyle/>
          <a:p>
            <a:r>
              <a:rPr sz="1500" b="0">
                <a:solidFill>
                  <a:srgbClr val="6B6F78"/>
                </a:solidFill>
                <a:latin typeface="Calibri"/>
              </a:rPr>
              <a:t>Matching one stored answer hides real differences; a validator does not</a:t>
            </a:r>
          </a:p>
        </p:txBody>
      </p:sp>
      <p:sp>
        <p:nvSpPr>
          <p:cNvPr id="5" name="TextBox 4"/>
          <p:cNvSpPr txBox="1"/>
          <p:nvPr/>
        </p:nvSpPr>
        <p:spPr>
          <a:xfrm>
            <a:off x="548640" y="6446520"/>
            <a:ext cx="7315200" cy="274320"/>
          </a:xfrm>
          <a:prstGeom prst="rect">
            <a:avLst/>
          </a:prstGeom>
          <a:noFill/>
        </p:spPr>
        <p:txBody>
          <a:bodyPr wrap="square" lIns="45720" rIns="45720" tIns="27432" bIns="27432">
            <a:spAutoFit/>
          </a:bodyPr>
          <a:lstStyle/>
          <a:p>
            <a:r>
              <a:rPr sz="1000" b="0">
                <a:solidFill>
                  <a:srgbClr val="6B6F78"/>
                </a:solidFill>
                <a:latin typeface="Calibri"/>
              </a:rPr>
              <a:t>OS-Tutor-RAG · VIT</a:t>
            </a:r>
          </a:p>
        </p:txBody>
      </p:sp>
      <p:sp>
        <p:nvSpPr>
          <p:cNvPr id="6" name="TextBox 5"/>
          <p:cNvSpPr txBox="1"/>
          <p:nvPr/>
        </p:nvSpPr>
        <p:spPr>
          <a:xfrm>
            <a:off x="11155680" y="6446520"/>
            <a:ext cx="548640" cy="274320"/>
          </a:xfrm>
          <a:prstGeom prst="rect">
            <a:avLst/>
          </a:prstGeom>
          <a:noFill/>
        </p:spPr>
        <p:txBody>
          <a:bodyPr wrap="square" lIns="45720" rIns="45720" tIns="27432" bIns="27432">
            <a:spAutoFit/>
          </a:bodyPr>
          <a:lstStyle/>
          <a:p>
            <a:pPr algn="r"/>
            <a:r>
              <a:rPr sz="1000" b="0">
                <a:solidFill>
                  <a:srgbClr val="6B6F78"/>
                </a:solidFill>
                <a:latin typeface="Calibri"/>
              </a:rPr>
              <a:t>5</a:t>
            </a:r>
          </a:p>
        </p:txBody>
      </p:sp>
      <p:sp>
        <p:nvSpPr>
          <p:cNvPr id="7" name="TextBox 6"/>
          <p:cNvSpPr txBox="1"/>
          <p:nvPr/>
        </p:nvSpPr>
        <p:spPr>
          <a:xfrm>
            <a:off x="457200" y="1325880"/>
            <a:ext cx="3840480" cy="320040"/>
          </a:xfrm>
          <a:prstGeom prst="rect">
            <a:avLst/>
          </a:prstGeom>
          <a:noFill/>
        </p:spPr>
        <p:txBody>
          <a:bodyPr wrap="square" lIns="45720" rIns="45720" tIns="27432" bIns="27432">
            <a:spAutoFit/>
          </a:bodyPr>
          <a:lstStyle/>
          <a:p>
            <a:r>
              <a:rPr sz="1500" b="1">
                <a:solidFill>
                  <a:srgbClr val="0F766E"/>
                </a:solidFill>
                <a:latin typeface="Calibri"/>
              </a:rPr>
              <a:t>The idea in one task</a:t>
            </a:r>
          </a:p>
        </p:txBody>
      </p:sp>
      <p:sp>
        <p:nvSpPr>
          <p:cNvPr id="8" name="Rectangle 7"/>
          <p:cNvSpPr/>
          <p:nvPr/>
        </p:nvSpPr>
        <p:spPr>
          <a:xfrm>
            <a:off x="457200" y="1691640"/>
            <a:ext cx="3840480" cy="2286000"/>
          </a:xfrm>
          <a:prstGeom prst="rect">
            <a:avLst/>
          </a:prstGeom>
          <a:solidFill>
            <a:srgbClr val="F0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719072"/>
            <a:ext cx="3749039" cy="2240280"/>
          </a:xfrm>
          <a:prstGeom prst="rect">
            <a:avLst/>
          </a:prstGeom>
          <a:noFill/>
        </p:spPr>
        <p:txBody>
          <a:bodyPr wrap="square" lIns="45720" rIns="45720" tIns="27432" bIns="27432">
            <a:spAutoFit/>
          </a:bodyPr>
          <a:lstStyle/>
          <a:p>
            <a:r>
              <a:rPr sz="1000" b="0">
                <a:solidFill>
                  <a:srgbClr val="1E2128"/>
                </a:solidFill>
                <a:latin typeface="Courier New"/>
              </a:rPr>
              <a:t>sched_01: FCFS, P1=24, P2=3, P3=3.
Six orderings are all valid:
  P1,P2,P3 · P1,P3,P2 · P2,P1,P3
  P2,P3,P1 · P3,P1,P2 · P3,P2,P1
Stored gold = #1. A model giving #4 is
equally correct but marked wrong.
E2 passes a valid answer with probability 1/|V|.
E[E2] = E3 / |V(x)|  (r = 1.000)</a:t>
            </a:r>
          </a:p>
        </p:txBody>
      </p:sp>
      <p:sp>
        <p:nvSpPr>
          <p:cNvPr id="10" name="Rectangle 9"/>
          <p:cNvSpPr/>
          <p:nvPr/>
        </p:nvSpPr>
        <p:spPr>
          <a:xfrm>
            <a:off x="457200" y="4069080"/>
            <a:ext cx="3840480" cy="2240280"/>
          </a:xfrm>
          <a:prstGeom prst="rect">
            <a:avLst/>
          </a:prstGeom>
          <a:solidFill>
            <a:srgbClr val="E3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4069080"/>
            <a:ext cx="64008" cy="22402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142232"/>
            <a:ext cx="3566160" cy="365760"/>
          </a:xfrm>
          <a:prstGeom prst="rect">
            <a:avLst/>
          </a:prstGeom>
          <a:noFill/>
        </p:spPr>
        <p:txBody>
          <a:bodyPr wrap="square" lIns="45720" rIns="45720" tIns="27432" bIns="27432">
            <a:spAutoFit/>
          </a:bodyPr>
          <a:lstStyle/>
          <a:p>
            <a:r>
              <a:rPr sz="1500" b="1">
                <a:solidFill>
                  <a:srgbClr val="0F766E"/>
                </a:solidFill>
                <a:latin typeface="Calibri"/>
              </a:rPr>
              <a:t>Local models (floor: 6.6-30.9% valid)</a:t>
            </a:r>
          </a:p>
        </p:txBody>
      </p:sp>
      <p:sp>
        <p:nvSpPr>
          <p:cNvPr id="13" name="TextBox 12"/>
          <p:cNvSpPr txBox="1"/>
          <p:nvPr/>
        </p:nvSpPr>
        <p:spPr>
          <a:xfrm>
            <a:off x="640080" y="4526280"/>
            <a:ext cx="3566160" cy="1737360"/>
          </a:xfrm>
          <a:prstGeom prst="rect">
            <a:avLst/>
          </a:prstGeom>
          <a:noFill/>
        </p:spPr>
        <p:txBody>
          <a:bodyPr wrap="square" lIns="45720" rIns="45720" tIns="27432" bIns="27432">
            <a:spAutoFit/>
          </a:bodyPr>
          <a:lstStyle/>
          <a:p>
            <a:r>
              <a:rPr sz="1100" b="0">
                <a:solidFill>
                  <a:srgbClr val="1E2128"/>
                </a:solidFill>
                <a:latin typeface="Calibri"/>
              </a:rPr>
              <a:t>Kendall tau-b 0.62 ± 0.35 across 50,000 reference sets. Winner reverses in 17.56% of pairs, but 85.6% of that sits in pairs even the validator cannot separate. The validator finds qwen3 &gt; llama3.1 and &gt; mistral in every draw; E2 detects it in 5 of 50,000 (99.99% missed).</a:t>
            </a:r>
          </a:p>
        </p:txBody>
      </p:sp>
      <p:sp>
        <p:nvSpPr>
          <p:cNvPr id="14" name="TextBox 13"/>
          <p:cNvSpPr txBox="1"/>
          <p:nvPr/>
        </p:nvSpPr>
        <p:spPr>
          <a:xfrm>
            <a:off x="4572000" y="1325880"/>
            <a:ext cx="7132320" cy="320040"/>
          </a:xfrm>
          <a:prstGeom prst="rect">
            <a:avLst/>
          </a:prstGeom>
          <a:noFill/>
        </p:spPr>
        <p:txBody>
          <a:bodyPr wrap="square" lIns="45720" rIns="45720" tIns="27432" bIns="27432">
            <a:spAutoFit/>
          </a:bodyPr>
          <a:lstStyle/>
          <a:p>
            <a:r>
              <a:rPr sz="1500" b="1">
                <a:solidFill>
                  <a:srgbClr val="0F766E"/>
                </a:solidFill>
                <a:latin typeface="Calibri"/>
              </a:rPr>
              <a:t>Follow-up: four Claude models above the floor (preregistered)</a:t>
            </a:r>
          </a:p>
        </p:txBody>
      </p:sp>
      <p:sp>
        <p:nvSpPr>
          <p:cNvPr id="15" name="Rectangle 14"/>
          <p:cNvSpPr/>
          <p:nvPr/>
        </p:nvSpPr>
        <p:spPr>
          <a:xfrm>
            <a:off x="4572000" y="1691640"/>
            <a:ext cx="3291840" cy="32918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1709928"/>
            <a:ext cx="1554480" cy="292608"/>
          </a:xfrm>
          <a:prstGeom prst="rect">
            <a:avLst/>
          </a:prstGeom>
          <a:noFill/>
        </p:spPr>
        <p:txBody>
          <a:bodyPr wrap="square" lIns="45720" rIns="45720" tIns="27432" bIns="27432">
            <a:spAutoFit/>
          </a:bodyPr>
          <a:lstStyle/>
          <a:p>
            <a:r>
              <a:rPr sz="1100" b="1">
                <a:solidFill>
                  <a:srgbClr val="FFFFFF"/>
                </a:solidFill>
                <a:latin typeface="Calibri"/>
              </a:rPr>
              <a:t>Model</a:t>
            </a:r>
          </a:p>
        </p:txBody>
      </p:sp>
      <p:sp>
        <p:nvSpPr>
          <p:cNvPr id="17" name="TextBox 16"/>
          <p:cNvSpPr txBox="1"/>
          <p:nvPr/>
        </p:nvSpPr>
        <p:spPr>
          <a:xfrm>
            <a:off x="6126480" y="1709928"/>
            <a:ext cx="822960" cy="292608"/>
          </a:xfrm>
          <a:prstGeom prst="rect">
            <a:avLst/>
          </a:prstGeom>
          <a:noFill/>
        </p:spPr>
        <p:txBody>
          <a:bodyPr wrap="square" lIns="45720" rIns="45720" tIns="27432" bIns="27432">
            <a:spAutoFit/>
          </a:bodyPr>
          <a:lstStyle/>
          <a:p>
            <a:r>
              <a:rPr sz="1100" b="1">
                <a:solidFill>
                  <a:srgbClr val="FFFFFF"/>
                </a:solidFill>
                <a:latin typeface="Calibri"/>
              </a:rPr>
              <a:t>Valid</a:t>
            </a:r>
          </a:p>
        </p:txBody>
      </p:sp>
      <p:sp>
        <p:nvSpPr>
          <p:cNvPr id="18" name="TextBox 17"/>
          <p:cNvSpPr txBox="1"/>
          <p:nvPr/>
        </p:nvSpPr>
        <p:spPr>
          <a:xfrm>
            <a:off x="7040880" y="1709928"/>
            <a:ext cx="731520" cy="292608"/>
          </a:xfrm>
          <a:prstGeom prst="rect">
            <a:avLst/>
          </a:prstGeom>
          <a:noFill/>
        </p:spPr>
        <p:txBody>
          <a:bodyPr wrap="square" lIns="45720" rIns="45720" tIns="27432" bIns="27432">
            <a:spAutoFit/>
          </a:bodyPr>
          <a:lstStyle/>
          <a:p>
            <a:r>
              <a:rPr sz="1100" b="1">
                <a:solidFill>
                  <a:srgbClr val="FFFFFF"/>
                </a:solidFill>
                <a:latin typeface="Calibri"/>
              </a:rPr>
              <a:t>CIF</a:t>
            </a:r>
          </a:p>
        </p:txBody>
      </p:sp>
      <p:sp>
        <p:nvSpPr>
          <p:cNvPr id="19" name="Rectangle 18"/>
          <p:cNvSpPr/>
          <p:nvPr/>
        </p:nvSpPr>
        <p:spPr>
          <a:xfrm>
            <a:off x="4572000" y="2039112"/>
            <a:ext cx="3291840" cy="329184"/>
          </a:xfrm>
          <a:prstGeom prst="rect">
            <a:avLst/>
          </a:prstGeom>
          <a:solidFill>
            <a:srgbClr val="E3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2057400"/>
            <a:ext cx="1554480" cy="292608"/>
          </a:xfrm>
          <a:prstGeom prst="rect">
            <a:avLst/>
          </a:prstGeom>
          <a:noFill/>
        </p:spPr>
        <p:txBody>
          <a:bodyPr wrap="square" lIns="45720" rIns="45720" tIns="27432" bIns="27432">
            <a:spAutoFit/>
          </a:bodyPr>
          <a:lstStyle/>
          <a:p>
            <a:r>
              <a:rPr sz="1100" b="0">
                <a:solidFill>
                  <a:srgbClr val="1E2128"/>
                </a:solidFill>
                <a:latin typeface="Calibri"/>
              </a:rPr>
              <a:t>sonnet-5.5</a:t>
            </a:r>
          </a:p>
        </p:txBody>
      </p:sp>
      <p:sp>
        <p:nvSpPr>
          <p:cNvPr id="21" name="TextBox 20"/>
          <p:cNvSpPr txBox="1"/>
          <p:nvPr/>
        </p:nvSpPr>
        <p:spPr>
          <a:xfrm>
            <a:off x="6126480" y="2057400"/>
            <a:ext cx="822960" cy="292608"/>
          </a:xfrm>
          <a:prstGeom prst="rect">
            <a:avLst/>
          </a:prstGeom>
          <a:noFill/>
        </p:spPr>
        <p:txBody>
          <a:bodyPr wrap="square" lIns="45720" rIns="45720" tIns="27432" bIns="27432">
            <a:spAutoFit/>
          </a:bodyPr>
          <a:lstStyle/>
          <a:p>
            <a:r>
              <a:rPr sz="1100" b="0">
                <a:solidFill>
                  <a:srgbClr val="1E2128"/>
                </a:solidFill>
                <a:latin typeface="Calibri"/>
              </a:rPr>
              <a:t>99.3%</a:t>
            </a:r>
          </a:p>
        </p:txBody>
      </p:sp>
      <p:sp>
        <p:nvSpPr>
          <p:cNvPr id="22" name="TextBox 21"/>
          <p:cNvSpPr txBox="1"/>
          <p:nvPr/>
        </p:nvSpPr>
        <p:spPr>
          <a:xfrm>
            <a:off x="7040880" y="2057400"/>
            <a:ext cx="731520" cy="292608"/>
          </a:xfrm>
          <a:prstGeom prst="rect">
            <a:avLst/>
          </a:prstGeom>
          <a:noFill/>
        </p:spPr>
        <p:txBody>
          <a:bodyPr wrap="square" lIns="45720" rIns="45720" tIns="27432" bIns="27432">
            <a:spAutoFit/>
          </a:bodyPr>
          <a:lstStyle/>
          <a:p>
            <a:r>
              <a:rPr sz="1100" b="0">
                <a:solidFill>
                  <a:srgbClr val="1E2128"/>
                </a:solidFill>
                <a:latin typeface="Calibri"/>
              </a:rPr>
              <a:t>3.30</a:t>
            </a:r>
          </a:p>
        </p:txBody>
      </p:sp>
      <p:sp>
        <p:nvSpPr>
          <p:cNvPr id="23" name="Rectangle 22"/>
          <p:cNvSpPr/>
          <p:nvPr/>
        </p:nvSpPr>
        <p:spPr>
          <a:xfrm>
            <a:off x="4572000" y="2386584"/>
            <a:ext cx="32918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17720" y="2404872"/>
            <a:ext cx="1554480" cy="292608"/>
          </a:xfrm>
          <a:prstGeom prst="rect">
            <a:avLst/>
          </a:prstGeom>
          <a:noFill/>
        </p:spPr>
        <p:txBody>
          <a:bodyPr wrap="square" lIns="45720" rIns="45720" tIns="27432" bIns="27432">
            <a:spAutoFit/>
          </a:bodyPr>
          <a:lstStyle/>
          <a:p>
            <a:r>
              <a:rPr sz="1100" b="0">
                <a:solidFill>
                  <a:srgbClr val="1E2128"/>
                </a:solidFill>
                <a:latin typeface="Calibri"/>
              </a:rPr>
              <a:t>haiku-5.5</a:t>
            </a:r>
          </a:p>
        </p:txBody>
      </p:sp>
      <p:sp>
        <p:nvSpPr>
          <p:cNvPr id="25" name="TextBox 24"/>
          <p:cNvSpPr txBox="1"/>
          <p:nvPr/>
        </p:nvSpPr>
        <p:spPr>
          <a:xfrm>
            <a:off x="6126480" y="2404872"/>
            <a:ext cx="822960" cy="292608"/>
          </a:xfrm>
          <a:prstGeom prst="rect">
            <a:avLst/>
          </a:prstGeom>
          <a:noFill/>
        </p:spPr>
        <p:txBody>
          <a:bodyPr wrap="square" lIns="45720" rIns="45720" tIns="27432" bIns="27432">
            <a:spAutoFit/>
          </a:bodyPr>
          <a:lstStyle/>
          <a:p>
            <a:r>
              <a:rPr sz="1100" b="0">
                <a:solidFill>
                  <a:srgbClr val="1E2128"/>
                </a:solidFill>
                <a:latin typeface="Calibri"/>
              </a:rPr>
              <a:t>98.3%</a:t>
            </a:r>
          </a:p>
        </p:txBody>
      </p:sp>
      <p:sp>
        <p:nvSpPr>
          <p:cNvPr id="26" name="TextBox 25"/>
          <p:cNvSpPr txBox="1"/>
          <p:nvPr/>
        </p:nvSpPr>
        <p:spPr>
          <a:xfrm>
            <a:off x="7040880" y="2404872"/>
            <a:ext cx="731520" cy="292608"/>
          </a:xfrm>
          <a:prstGeom prst="rect">
            <a:avLst/>
          </a:prstGeom>
          <a:noFill/>
        </p:spPr>
        <p:txBody>
          <a:bodyPr wrap="square" lIns="45720" rIns="45720" tIns="27432" bIns="27432">
            <a:spAutoFit/>
          </a:bodyPr>
          <a:lstStyle/>
          <a:p>
            <a:r>
              <a:rPr sz="1100" b="0">
                <a:solidFill>
                  <a:srgbClr val="1E2128"/>
                </a:solidFill>
                <a:latin typeface="Calibri"/>
              </a:rPr>
              <a:t>2.67</a:t>
            </a:r>
          </a:p>
        </p:txBody>
      </p:sp>
      <p:sp>
        <p:nvSpPr>
          <p:cNvPr id="27" name="Rectangle 26"/>
          <p:cNvSpPr/>
          <p:nvPr/>
        </p:nvSpPr>
        <p:spPr>
          <a:xfrm>
            <a:off x="4572000" y="2734056"/>
            <a:ext cx="3291840" cy="329184"/>
          </a:xfrm>
          <a:prstGeom prst="rect">
            <a:avLst/>
          </a:prstGeom>
          <a:solidFill>
            <a:srgbClr val="E3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17720" y="2752344"/>
            <a:ext cx="1554480" cy="292608"/>
          </a:xfrm>
          <a:prstGeom prst="rect">
            <a:avLst/>
          </a:prstGeom>
          <a:noFill/>
        </p:spPr>
        <p:txBody>
          <a:bodyPr wrap="square" lIns="45720" rIns="45720" tIns="27432" bIns="27432">
            <a:spAutoFit/>
          </a:bodyPr>
          <a:lstStyle/>
          <a:p>
            <a:r>
              <a:rPr sz="1100" b="0">
                <a:solidFill>
                  <a:srgbClr val="1E2128"/>
                </a:solidFill>
                <a:latin typeface="Calibri"/>
              </a:rPr>
              <a:t>sonnet-4.5</a:t>
            </a:r>
          </a:p>
        </p:txBody>
      </p:sp>
      <p:sp>
        <p:nvSpPr>
          <p:cNvPr id="29" name="TextBox 28"/>
          <p:cNvSpPr txBox="1"/>
          <p:nvPr/>
        </p:nvSpPr>
        <p:spPr>
          <a:xfrm>
            <a:off x="6126480" y="2752344"/>
            <a:ext cx="822960" cy="292608"/>
          </a:xfrm>
          <a:prstGeom prst="rect">
            <a:avLst/>
          </a:prstGeom>
          <a:noFill/>
        </p:spPr>
        <p:txBody>
          <a:bodyPr wrap="square" lIns="45720" rIns="45720" tIns="27432" bIns="27432">
            <a:spAutoFit/>
          </a:bodyPr>
          <a:lstStyle/>
          <a:p>
            <a:r>
              <a:rPr sz="1100" b="0">
                <a:solidFill>
                  <a:srgbClr val="1E2128"/>
                </a:solidFill>
                <a:latin typeface="Calibri"/>
              </a:rPr>
              <a:t>79.9%</a:t>
            </a:r>
          </a:p>
        </p:txBody>
      </p:sp>
      <p:sp>
        <p:nvSpPr>
          <p:cNvPr id="30" name="TextBox 29"/>
          <p:cNvSpPr txBox="1"/>
          <p:nvPr/>
        </p:nvSpPr>
        <p:spPr>
          <a:xfrm>
            <a:off x="7040880" y="2752344"/>
            <a:ext cx="731520" cy="292608"/>
          </a:xfrm>
          <a:prstGeom prst="rect">
            <a:avLst/>
          </a:prstGeom>
          <a:noFill/>
        </p:spPr>
        <p:txBody>
          <a:bodyPr wrap="square" lIns="45720" rIns="45720" tIns="27432" bIns="27432">
            <a:spAutoFit/>
          </a:bodyPr>
          <a:lstStyle/>
          <a:p>
            <a:r>
              <a:rPr sz="1100" b="0">
                <a:solidFill>
                  <a:srgbClr val="1E2128"/>
                </a:solidFill>
                <a:latin typeface="Calibri"/>
              </a:rPr>
              <a:t>2.26</a:t>
            </a:r>
          </a:p>
        </p:txBody>
      </p:sp>
      <p:sp>
        <p:nvSpPr>
          <p:cNvPr id="31" name="Rectangle 30"/>
          <p:cNvSpPr/>
          <p:nvPr/>
        </p:nvSpPr>
        <p:spPr>
          <a:xfrm>
            <a:off x="4572000" y="3081527"/>
            <a:ext cx="32918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17720" y="3099815"/>
            <a:ext cx="1554480" cy="292608"/>
          </a:xfrm>
          <a:prstGeom prst="rect">
            <a:avLst/>
          </a:prstGeom>
          <a:noFill/>
        </p:spPr>
        <p:txBody>
          <a:bodyPr wrap="square" lIns="45720" rIns="45720" tIns="27432" bIns="27432">
            <a:spAutoFit/>
          </a:bodyPr>
          <a:lstStyle/>
          <a:p>
            <a:r>
              <a:rPr sz="1100" b="0">
                <a:solidFill>
                  <a:srgbClr val="1E2128"/>
                </a:solidFill>
                <a:latin typeface="Calibri"/>
              </a:rPr>
              <a:t>haiku-4.5</a:t>
            </a:r>
          </a:p>
        </p:txBody>
      </p:sp>
      <p:sp>
        <p:nvSpPr>
          <p:cNvPr id="33" name="TextBox 32"/>
          <p:cNvSpPr txBox="1"/>
          <p:nvPr/>
        </p:nvSpPr>
        <p:spPr>
          <a:xfrm>
            <a:off x="6126480" y="3099815"/>
            <a:ext cx="822960" cy="292608"/>
          </a:xfrm>
          <a:prstGeom prst="rect">
            <a:avLst/>
          </a:prstGeom>
          <a:noFill/>
        </p:spPr>
        <p:txBody>
          <a:bodyPr wrap="square" lIns="45720" rIns="45720" tIns="27432" bIns="27432">
            <a:spAutoFit/>
          </a:bodyPr>
          <a:lstStyle/>
          <a:p>
            <a:r>
              <a:rPr sz="1100" b="0">
                <a:solidFill>
                  <a:srgbClr val="1E2128"/>
                </a:solidFill>
                <a:latin typeface="Calibri"/>
              </a:rPr>
              <a:t>73.3%</a:t>
            </a:r>
          </a:p>
        </p:txBody>
      </p:sp>
      <p:sp>
        <p:nvSpPr>
          <p:cNvPr id="34" name="TextBox 33"/>
          <p:cNvSpPr txBox="1"/>
          <p:nvPr/>
        </p:nvSpPr>
        <p:spPr>
          <a:xfrm>
            <a:off x="7040880" y="3099815"/>
            <a:ext cx="731520" cy="292608"/>
          </a:xfrm>
          <a:prstGeom prst="rect">
            <a:avLst/>
          </a:prstGeom>
          <a:noFill/>
        </p:spPr>
        <p:txBody>
          <a:bodyPr wrap="square" lIns="45720" rIns="45720" tIns="27432" bIns="27432">
            <a:spAutoFit/>
          </a:bodyPr>
          <a:lstStyle/>
          <a:p>
            <a:r>
              <a:rPr sz="1100" b="0">
                <a:solidFill>
                  <a:srgbClr val="1E2128"/>
                </a:solidFill>
                <a:latin typeface="Calibri"/>
              </a:rPr>
              <a:t>3.11</a:t>
            </a:r>
          </a:p>
        </p:txBody>
      </p:sp>
      <p:sp>
        <p:nvSpPr>
          <p:cNvPr id="35" name="TextBox 34"/>
          <p:cNvSpPr txBox="1"/>
          <p:nvPr/>
        </p:nvSpPr>
        <p:spPr>
          <a:xfrm>
            <a:off x="4572000" y="3474720"/>
            <a:ext cx="3291840" cy="640080"/>
          </a:xfrm>
          <a:prstGeom prst="rect">
            <a:avLst/>
          </a:prstGeom>
          <a:noFill/>
        </p:spPr>
        <p:txBody>
          <a:bodyPr wrap="square" lIns="45720" rIns="45720" tIns="27432" bIns="27432">
            <a:spAutoFit/>
          </a:bodyPr>
          <a:lstStyle/>
          <a:p>
            <a:r>
              <a:rPr sz="1000" b="0">
                <a:solidFill>
                  <a:srgbClr val="6B6F78"/>
                </a:solidFill>
                <a:latin typeface="Calibri"/>
              </a:rPr>
              <a:t>CIF = canonical answer produced ÷ expected under uniform choice among valid answers.</a:t>
            </a:r>
          </a:p>
        </p:txBody>
      </p:sp>
      <p:sp>
        <p:nvSpPr>
          <p:cNvPr id="36" name="Rectangle 35"/>
          <p:cNvSpPr/>
          <p:nvPr/>
        </p:nvSpPr>
        <p:spPr>
          <a:xfrm>
            <a:off x="8046720" y="1691640"/>
            <a:ext cx="3657600" cy="566928"/>
          </a:xfrm>
          <a:prstGeom prst="rect">
            <a:avLst/>
          </a:prstGeom>
          <a:solidFill>
            <a:srgbClr val="E3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46720" y="1691640"/>
            <a:ext cx="64008" cy="5669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83879" y="1700784"/>
            <a:ext cx="3474720" cy="274320"/>
          </a:xfrm>
          <a:prstGeom prst="rect">
            <a:avLst/>
          </a:prstGeom>
          <a:noFill/>
        </p:spPr>
        <p:txBody>
          <a:bodyPr wrap="square" lIns="45720" rIns="45720" tIns="27432" bIns="27432">
            <a:spAutoFit/>
          </a:bodyPr>
          <a:lstStyle/>
          <a:p>
            <a:r>
              <a:rPr sz="1150" b="1">
                <a:solidFill>
                  <a:srgbClr val="0F766E"/>
                </a:solidFill>
                <a:latin typeface="Calibri"/>
              </a:rPr>
              <a:t>H1 floor gone</a:t>
            </a:r>
          </a:p>
        </p:txBody>
      </p:sp>
      <p:sp>
        <p:nvSpPr>
          <p:cNvPr id="39" name="TextBox 38"/>
          <p:cNvSpPr txBox="1"/>
          <p:nvPr/>
        </p:nvSpPr>
        <p:spPr>
          <a:xfrm>
            <a:off x="8183879" y="1965960"/>
            <a:ext cx="3474720" cy="274320"/>
          </a:xfrm>
          <a:prstGeom prst="rect">
            <a:avLst/>
          </a:prstGeom>
          <a:noFill/>
        </p:spPr>
        <p:txBody>
          <a:bodyPr wrap="square" lIns="45720" rIns="45720" tIns="27432" bIns="27432">
            <a:spAutoFit/>
          </a:bodyPr>
          <a:lstStyle/>
          <a:p>
            <a:r>
              <a:rPr sz="1050" b="0">
                <a:solidFill>
                  <a:srgbClr val="1E2128"/>
                </a:solidFill>
                <a:latin typeface="Calibri"/>
              </a:rPr>
              <a:t>Supported: 4 of 4 above 30%</a:t>
            </a:r>
          </a:p>
        </p:txBody>
      </p:sp>
      <p:sp>
        <p:nvSpPr>
          <p:cNvPr id="40" name="Rectangle 39"/>
          <p:cNvSpPr/>
          <p:nvPr/>
        </p:nvSpPr>
        <p:spPr>
          <a:xfrm>
            <a:off x="8046720" y="2313432"/>
            <a:ext cx="3657600" cy="566928"/>
          </a:xfrm>
          <a:prstGeom prst="rect">
            <a:avLst/>
          </a:prstGeom>
          <a:solidFill>
            <a:srgbClr val="E3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046720" y="2313432"/>
            <a:ext cx="64008" cy="5669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83879" y="2322576"/>
            <a:ext cx="3474720" cy="274320"/>
          </a:xfrm>
          <a:prstGeom prst="rect">
            <a:avLst/>
          </a:prstGeom>
          <a:noFill/>
        </p:spPr>
        <p:txBody>
          <a:bodyPr wrap="square" lIns="45720" rIns="45720" tIns="27432" bIns="27432">
            <a:spAutoFit/>
          </a:bodyPr>
          <a:lstStyle/>
          <a:p>
            <a:r>
              <a:rPr sz="1150" b="1">
                <a:solidFill>
                  <a:srgbClr val="0F766E"/>
                </a:solidFill>
                <a:latin typeface="Calibri"/>
              </a:rPr>
              <a:t>H2 detection loss</a:t>
            </a:r>
          </a:p>
        </p:txBody>
      </p:sp>
      <p:sp>
        <p:nvSpPr>
          <p:cNvPr id="43" name="TextBox 42"/>
          <p:cNvSpPr txBox="1"/>
          <p:nvPr/>
        </p:nvSpPr>
        <p:spPr>
          <a:xfrm>
            <a:off x="8183879" y="2587752"/>
            <a:ext cx="3474720" cy="274320"/>
          </a:xfrm>
          <a:prstGeom prst="rect">
            <a:avLst/>
          </a:prstGeom>
          <a:noFill/>
        </p:spPr>
        <p:txBody>
          <a:bodyPr wrap="square" lIns="45720" rIns="45720" tIns="27432" bIns="27432">
            <a:spAutoFit/>
          </a:bodyPr>
          <a:lstStyle/>
          <a:p>
            <a:r>
              <a:rPr sz="1050" b="0">
                <a:solidFill>
                  <a:srgbClr val="1E2128"/>
                </a:solidFill>
                <a:latin typeface="Calibri"/>
              </a:rPr>
              <a:t>Supported: E2 detects in 3.0% of draws</a:t>
            </a:r>
          </a:p>
        </p:txBody>
      </p:sp>
      <p:sp>
        <p:nvSpPr>
          <p:cNvPr id="44" name="Rectangle 43"/>
          <p:cNvSpPr/>
          <p:nvPr/>
        </p:nvSpPr>
        <p:spPr>
          <a:xfrm>
            <a:off x="8046720" y="2935224"/>
            <a:ext cx="3657600" cy="566928"/>
          </a:xfrm>
          <a:prstGeom prst="rect">
            <a:avLst/>
          </a:prstGeom>
          <a:solidFill>
            <a:srgbClr val="E3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046720" y="2935224"/>
            <a:ext cx="64008" cy="5669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83879" y="2944368"/>
            <a:ext cx="3474720" cy="274320"/>
          </a:xfrm>
          <a:prstGeom prst="rect">
            <a:avLst/>
          </a:prstGeom>
          <a:noFill/>
        </p:spPr>
        <p:txBody>
          <a:bodyPr wrap="square" lIns="45720" rIns="45720" tIns="27432" bIns="27432">
            <a:spAutoFit/>
          </a:bodyPr>
          <a:lstStyle/>
          <a:p>
            <a:r>
              <a:rPr sz="1150" b="1">
                <a:solidFill>
                  <a:srgbClr val="0F766E"/>
                </a:solidFill>
                <a:latin typeface="Calibri"/>
              </a:rPr>
              <a:t>H3 canonical inflation</a:t>
            </a:r>
          </a:p>
        </p:txBody>
      </p:sp>
      <p:sp>
        <p:nvSpPr>
          <p:cNvPr id="47" name="TextBox 46"/>
          <p:cNvSpPr txBox="1"/>
          <p:nvPr/>
        </p:nvSpPr>
        <p:spPr>
          <a:xfrm>
            <a:off x="8183879" y="3209544"/>
            <a:ext cx="3474720" cy="274320"/>
          </a:xfrm>
          <a:prstGeom prst="rect">
            <a:avLst/>
          </a:prstGeom>
          <a:noFill/>
        </p:spPr>
        <p:txBody>
          <a:bodyPr wrap="square" lIns="45720" rIns="45720" tIns="27432" bIns="27432">
            <a:spAutoFit/>
          </a:bodyPr>
          <a:lstStyle/>
          <a:p>
            <a:r>
              <a:rPr sz="1050" b="0">
                <a:solidFill>
                  <a:srgbClr val="1E2128"/>
                </a:solidFill>
                <a:latin typeface="Calibri"/>
              </a:rPr>
              <a:t>Supported: CIF 2.3-3.3 (all &gt; 1)</a:t>
            </a:r>
          </a:p>
        </p:txBody>
      </p:sp>
      <p:sp>
        <p:nvSpPr>
          <p:cNvPr id="48" name="Rectangle 47"/>
          <p:cNvSpPr/>
          <p:nvPr/>
        </p:nvSpPr>
        <p:spPr>
          <a:xfrm>
            <a:off x="8046720" y="3557016"/>
            <a:ext cx="3657600" cy="566928"/>
          </a:xfrm>
          <a:prstGeom prst="rect">
            <a:avLst/>
          </a:prstGeom>
          <a:solidFill>
            <a:srgbClr val="FBE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046720" y="3557016"/>
            <a:ext cx="64008" cy="566928"/>
          </a:xfrm>
          <a:prstGeom prst="rect">
            <a:avLst/>
          </a:prstGeom>
          <a:solidFill>
            <a:srgbClr val="B34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183879" y="3566160"/>
            <a:ext cx="3474720" cy="274320"/>
          </a:xfrm>
          <a:prstGeom prst="rect">
            <a:avLst/>
          </a:prstGeom>
          <a:noFill/>
        </p:spPr>
        <p:txBody>
          <a:bodyPr wrap="square" lIns="45720" rIns="45720" tIns="27432" bIns="27432">
            <a:spAutoFit/>
          </a:bodyPr>
          <a:lstStyle/>
          <a:p>
            <a:r>
              <a:rPr sz="1150" b="1">
                <a:solidFill>
                  <a:srgbClr val="B3441F"/>
                </a:solidFill>
                <a:latin typeface="Calibri"/>
              </a:rPr>
              <a:t>H4 ranking distortion &gt; 1.5x</a:t>
            </a:r>
          </a:p>
        </p:txBody>
      </p:sp>
      <p:sp>
        <p:nvSpPr>
          <p:cNvPr id="51" name="TextBox 50"/>
          <p:cNvSpPr txBox="1"/>
          <p:nvPr/>
        </p:nvSpPr>
        <p:spPr>
          <a:xfrm>
            <a:off x="8183879" y="3831336"/>
            <a:ext cx="3474720" cy="274320"/>
          </a:xfrm>
          <a:prstGeom prst="rect">
            <a:avLst/>
          </a:prstGeom>
          <a:noFill/>
        </p:spPr>
        <p:txBody>
          <a:bodyPr wrap="square" lIns="45720" rIns="45720" tIns="27432" bIns="27432">
            <a:spAutoFit/>
          </a:bodyPr>
          <a:lstStyle/>
          <a:p>
            <a:r>
              <a:rPr sz="1050" b="0">
                <a:solidFill>
                  <a:srgbClr val="1E2128"/>
                </a:solidFill>
                <a:latin typeface="Calibri"/>
              </a:rPr>
              <a:t>NOT supported: max 1.43x</a:t>
            </a:r>
          </a:p>
        </p:txBody>
      </p:sp>
      <p:sp>
        <p:nvSpPr>
          <p:cNvPr id="52" name="Rectangle 51"/>
          <p:cNvSpPr/>
          <p:nvPr/>
        </p:nvSpPr>
        <p:spPr>
          <a:xfrm>
            <a:off x="4572000" y="4160520"/>
            <a:ext cx="3520440" cy="2148840"/>
          </a:xfrm>
          <a:prstGeom prst="rect">
            <a:avLst/>
          </a:prstGeom>
          <a:solidFill>
            <a:srgbClr val="E3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572000" y="4160520"/>
            <a:ext cx="64008" cy="21488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754880" y="4233672"/>
            <a:ext cx="3246120" cy="365760"/>
          </a:xfrm>
          <a:prstGeom prst="rect">
            <a:avLst/>
          </a:prstGeom>
          <a:noFill/>
        </p:spPr>
        <p:txBody>
          <a:bodyPr wrap="square" lIns="45720" rIns="45720" tIns="27432" bIns="27432">
            <a:spAutoFit/>
          </a:bodyPr>
          <a:lstStyle/>
          <a:p>
            <a:r>
              <a:rPr sz="1500" b="1">
                <a:solidFill>
                  <a:srgbClr val="0F766E"/>
                </a:solidFill>
                <a:latin typeface="Calibri"/>
              </a:rPr>
              <a:t>Above the floor</a:t>
            </a:r>
          </a:p>
        </p:txBody>
      </p:sp>
      <p:sp>
        <p:nvSpPr>
          <p:cNvPr id="55" name="TextBox 54"/>
          <p:cNvSpPr txBox="1"/>
          <p:nvPr/>
        </p:nvSpPr>
        <p:spPr>
          <a:xfrm>
            <a:off x="4754880" y="4617720"/>
            <a:ext cx="3246120" cy="1645920"/>
          </a:xfrm>
          <a:prstGeom prst="rect">
            <a:avLst/>
          </a:prstGeom>
          <a:noFill/>
        </p:spPr>
        <p:txBody>
          <a:bodyPr wrap="square" lIns="45720" rIns="45720" tIns="27432" bIns="27432">
            <a:spAutoFit/>
          </a:bodyPr>
          <a:lstStyle/>
          <a:p>
            <a:r>
              <a:rPr sz="1100" b="0">
                <a:solidFill>
                  <a:srgbClr val="1E2128"/>
                </a:solidFill>
                <a:latin typeface="Calibri"/>
              </a:rPr>
              <a:t>Uniform-reference winner reversal rises to 26.9%. Matching k=5 references detects 36-44% of real differences, k=25 detects 51-69%, a single reference only 2-5%.</a:t>
            </a:r>
          </a:p>
        </p:txBody>
      </p:sp>
      <p:sp>
        <p:nvSpPr>
          <p:cNvPr id="56" name="Rectangle 55"/>
          <p:cNvSpPr/>
          <p:nvPr/>
        </p:nvSpPr>
        <p:spPr>
          <a:xfrm>
            <a:off x="8229600" y="4160520"/>
            <a:ext cx="3520440" cy="2148840"/>
          </a:xfrm>
          <a:prstGeom prst="rect">
            <a:avLst/>
          </a:prstGeom>
          <a:solidFill>
            <a:srgbClr val="FBE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229600" y="4160520"/>
            <a:ext cx="64008" cy="2148840"/>
          </a:xfrm>
          <a:prstGeom prst="rect">
            <a:avLst/>
          </a:prstGeom>
          <a:solidFill>
            <a:srgbClr val="B34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12480" y="4233672"/>
            <a:ext cx="3246120" cy="365760"/>
          </a:xfrm>
          <a:prstGeom prst="rect">
            <a:avLst/>
          </a:prstGeom>
          <a:noFill/>
        </p:spPr>
        <p:txBody>
          <a:bodyPr wrap="square" lIns="45720" rIns="45720" tIns="27432" bIns="27432">
            <a:spAutoFit/>
          </a:bodyPr>
          <a:lstStyle/>
          <a:p>
            <a:r>
              <a:rPr sz="1500" b="1">
                <a:solidFill>
                  <a:srgbClr val="B3441F"/>
                </a:solidFill>
                <a:latin typeface="Calibri"/>
              </a:rPr>
              <a:t>Honest limits</a:t>
            </a:r>
          </a:p>
        </p:txBody>
      </p:sp>
      <p:sp>
        <p:nvSpPr>
          <p:cNvPr id="59" name="TextBox 58"/>
          <p:cNvSpPr txBox="1"/>
          <p:nvPr/>
        </p:nvSpPr>
        <p:spPr>
          <a:xfrm>
            <a:off x="8412480" y="4617720"/>
            <a:ext cx="3246120" cy="1645920"/>
          </a:xfrm>
          <a:prstGeom prst="rect">
            <a:avLst/>
          </a:prstGeom>
          <a:noFill/>
        </p:spPr>
        <p:txBody>
          <a:bodyPr wrap="square" lIns="45720" rIns="45720" tIns="27432" bIns="27432">
            <a:spAutoFit/>
          </a:bodyPr>
          <a:lstStyle/>
          <a:p>
            <a:r>
              <a:rPr sz="1100" b="0">
                <a:solidFill>
                  <a:srgbClr val="1E2128"/>
                </a:solidFill>
                <a:latin typeface="Calibri"/>
              </a:rPr>
              <a:t>One 24-task domain. Plan is an internal freeze. CLI sampling is provider-default. Metrics defined post hoc. Prevalence of single-reference scoring unaudited. Empirical study, not a proof; workshop-level.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lIns="45720" rIns="45720" tIns="27432" bIns="27432">
            <a:spAutoFit/>
          </a:bodyPr>
          <a:lstStyle/>
          <a:p>
            <a:r>
              <a:rPr sz="3000" b="1">
                <a:solidFill>
                  <a:srgbClr val="1E2128"/>
                </a:solidFill>
                <a:latin typeface="Calibri"/>
              </a:rPr>
              <a:t>Conclusion</a:t>
            </a:r>
          </a:p>
        </p:txBody>
      </p:sp>
      <p:sp>
        <p:nvSpPr>
          <p:cNvPr id="4" name="TextBox 3"/>
          <p:cNvSpPr txBox="1"/>
          <p:nvPr/>
        </p:nvSpPr>
        <p:spPr>
          <a:xfrm>
            <a:off x="548640" y="6446520"/>
            <a:ext cx="7315200" cy="274320"/>
          </a:xfrm>
          <a:prstGeom prst="rect">
            <a:avLst/>
          </a:prstGeom>
          <a:noFill/>
        </p:spPr>
        <p:txBody>
          <a:bodyPr wrap="square" lIns="45720" rIns="45720" tIns="27432" bIns="27432">
            <a:spAutoFit/>
          </a:bodyPr>
          <a:lstStyle/>
          <a:p>
            <a:r>
              <a:rPr sz="1000" b="0">
                <a:solidFill>
                  <a:srgbClr val="6B6F78"/>
                </a:solidFill>
                <a:latin typeface="Calibri"/>
              </a:rPr>
              <a:t>OS-Tutor-RAG · VIT</a:t>
            </a:r>
          </a:p>
        </p:txBody>
      </p:sp>
      <p:sp>
        <p:nvSpPr>
          <p:cNvPr id="5" name="TextBox 4"/>
          <p:cNvSpPr txBox="1"/>
          <p:nvPr/>
        </p:nvSpPr>
        <p:spPr>
          <a:xfrm>
            <a:off x="11155680" y="6446520"/>
            <a:ext cx="548640" cy="274320"/>
          </a:xfrm>
          <a:prstGeom prst="rect">
            <a:avLst/>
          </a:prstGeom>
          <a:noFill/>
        </p:spPr>
        <p:txBody>
          <a:bodyPr wrap="square" lIns="45720" rIns="45720" tIns="27432" bIns="27432">
            <a:spAutoFit/>
          </a:bodyPr>
          <a:lstStyle/>
          <a:p>
            <a:pPr algn="r"/>
            <a:r>
              <a:rPr sz="1000" b="0">
                <a:solidFill>
                  <a:srgbClr val="6B6F78"/>
                </a:solidFill>
                <a:latin typeface="Calibri"/>
              </a:rPr>
              <a:t>6</a:t>
            </a:r>
          </a:p>
        </p:txBody>
      </p:sp>
      <p:sp>
        <p:nvSpPr>
          <p:cNvPr id="6" name="Rectangle 5"/>
          <p:cNvSpPr/>
          <p:nvPr/>
        </p:nvSpPr>
        <p:spPr>
          <a:xfrm>
            <a:off x="548640" y="1280160"/>
            <a:ext cx="3566160" cy="3200400"/>
          </a:xfrm>
          <a:prstGeom prst="rect">
            <a:avLst/>
          </a:prstGeom>
          <a:solidFill>
            <a:srgbClr val="E3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80160"/>
            <a:ext cx="64008" cy="3200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353312"/>
            <a:ext cx="3291840" cy="365760"/>
          </a:xfrm>
          <a:prstGeom prst="rect">
            <a:avLst/>
          </a:prstGeom>
          <a:noFill/>
        </p:spPr>
        <p:txBody>
          <a:bodyPr wrap="square" lIns="45720" rIns="45720" tIns="27432" bIns="27432">
            <a:spAutoFit/>
          </a:bodyPr>
          <a:lstStyle/>
          <a:p>
            <a:r>
              <a:rPr sz="1500" b="1">
                <a:solidFill>
                  <a:srgbClr val="0F766E"/>
                </a:solidFill>
                <a:latin typeface="Calibri"/>
              </a:rPr>
              <a:t>What we built</a:t>
            </a:r>
          </a:p>
        </p:txBody>
      </p:sp>
      <p:sp>
        <p:nvSpPr>
          <p:cNvPr id="9" name="TextBox 8"/>
          <p:cNvSpPr txBox="1"/>
          <p:nvPr/>
        </p:nvSpPr>
        <p:spPr>
          <a:xfrm>
            <a:off x="731520" y="1737360"/>
            <a:ext cx="3291840" cy="2697480"/>
          </a:xfrm>
          <a:prstGeom prst="rect">
            <a:avLst/>
          </a:prstGeom>
          <a:noFill/>
        </p:spPr>
        <p:txBody>
          <a:bodyPr wrap="square" lIns="45720" rIns="45720" tIns="27432" bIns="27432">
            <a:spAutoFit/>
          </a:bodyPr>
          <a:lstStyle/>
          <a:p>
            <a:r>
              <a:rPr sz="1400" b="0">
                <a:solidFill>
                  <a:srgbClr val="1E2128"/>
                </a:solidFill>
                <a:latin typeface="Calibri"/>
              </a:rPr>
              <a:t>A grounded, streaming OS tutor that explains first, then asks one graded Socratic question (hints, misconception probes, quiz, follow-up chips); and a research study of reference choice on 24 OS tasks with 8 models.</a:t>
            </a:r>
          </a:p>
        </p:txBody>
      </p:sp>
      <p:sp>
        <p:nvSpPr>
          <p:cNvPr id="10" name="Rectangle 9"/>
          <p:cNvSpPr/>
          <p:nvPr/>
        </p:nvSpPr>
        <p:spPr>
          <a:xfrm>
            <a:off x="4297680" y="1280160"/>
            <a:ext cx="3566160" cy="3200400"/>
          </a:xfrm>
          <a:prstGeom prst="rect">
            <a:avLst/>
          </a:prstGeom>
          <a:solidFill>
            <a:srgbClr val="E3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1280160"/>
            <a:ext cx="64008" cy="32004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353312"/>
            <a:ext cx="3291840" cy="365760"/>
          </a:xfrm>
          <a:prstGeom prst="rect">
            <a:avLst/>
          </a:prstGeom>
          <a:noFill/>
        </p:spPr>
        <p:txBody>
          <a:bodyPr wrap="square" lIns="45720" rIns="45720" tIns="27432" bIns="27432">
            <a:spAutoFit/>
          </a:bodyPr>
          <a:lstStyle/>
          <a:p>
            <a:r>
              <a:rPr sz="1500" b="1">
                <a:solidFill>
                  <a:srgbClr val="0F766E"/>
                </a:solidFill>
                <a:latin typeface="Calibri"/>
              </a:rPr>
              <a:t>What we learned</a:t>
            </a:r>
          </a:p>
        </p:txBody>
      </p:sp>
      <p:sp>
        <p:nvSpPr>
          <p:cNvPr id="13" name="TextBox 12"/>
          <p:cNvSpPr txBox="1"/>
          <p:nvPr/>
        </p:nvSpPr>
        <p:spPr>
          <a:xfrm>
            <a:off x="4480560" y="1737360"/>
            <a:ext cx="3291840" cy="2697480"/>
          </a:xfrm>
          <a:prstGeom prst="rect">
            <a:avLst/>
          </a:prstGeom>
          <a:noFill/>
        </p:spPr>
        <p:txBody>
          <a:bodyPr wrap="square" lIns="45720" rIns="45720" tIns="27432" bIns="27432">
            <a:spAutoFit/>
          </a:bodyPr>
          <a:lstStyle/>
          <a:p>
            <a:r>
              <a:rPr sz="1400" b="0">
                <a:solidFill>
                  <a:srgbClr val="1E2128"/>
                </a:solidFill>
                <a:latin typeface="Calibri"/>
              </a:rPr>
              <a:t>Chatbot: defects and the prompt beat retrieval technique; measure the noise (±0.027). Research: one stored gold answer hides real model differences (detected in 0.01-3% of draws) and models over-produce the canonical answer 2.3-3.3x; a validator avoids both.</a:t>
            </a:r>
          </a:p>
        </p:txBody>
      </p:sp>
      <p:sp>
        <p:nvSpPr>
          <p:cNvPr id="14" name="Rectangle 13"/>
          <p:cNvSpPr/>
          <p:nvPr/>
        </p:nvSpPr>
        <p:spPr>
          <a:xfrm>
            <a:off x="8046720" y="1280160"/>
            <a:ext cx="3657600" cy="3200400"/>
          </a:xfrm>
          <a:prstGeom prst="rect">
            <a:avLst/>
          </a:prstGeom>
          <a:solidFill>
            <a:srgbClr val="FBE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280160"/>
            <a:ext cx="64008" cy="3200400"/>
          </a:xfrm>
          <a:prstGeom prst="rect">
            <a:avLst/>
          </a:prstGeom>
          <a:solidFill>
            <a:srgbClr val="B34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353312"/>
            <a:ext cx="3383280" cy="365760"/>
          </a:xfrm>
          <a:prstGeom prst="rect">
            <a:avLst/>
          </a:prstGeom>
          <a:noFill/>
        </p:spPr>
        <p:txBody>
          <a:bodyPr wrap="square" lIns="45720" rIns="45720" tIns="27432" bIns="27432">
            <a:spAutoFit/>
          </a:bodyPr>
          <a:lstStyle/>
          <a:p>
            <a:r>
              <a:rPr sz="1500" b="1">
                <a:solidFill>
                  <a:srgbClr val="B3441F"/>
                </a:solidFill>
                <a:latin typeface="Calibri"/>
              </a:rPr>
              <a:t>Limits and next</a:t>
            </a:r>
          </a:p>
        </p:txBody>
      </p:sp>
      <p:sp>
        <p:nvSpPr>
          <p:cNvPr id="17" name="TextBox 16"/>
          <p:cNvSpPr txBox="1"/>
          <p:nvPr/>
        </p:nvSpPr>
        <p:spPr>
          <a:xfrm>
            <a:off x="8229600" y="1737360"/>
            <a:ext cx="3383280" cy="2697480"/>
          </a:xfrm>
          <a:prstGeom prst="rect">
            <a:avLst/>
          </a:prstGeom>
          <a:noFill/>
        </p:spPr>
        <p:txBody>
          <a:bodyPr wrap="square" lIns="45720" rIns="45720" tIns="27432" bIns="27432">
            <a:spAutoFit/>
          </a:bodyPr>
          <a:lstStyle/>
          <a:p>
            <a:r>
              <a:rPr sz="1400" b="0">
                <a:solidFill>
                  <a:srgbClr val="1E2128"/>
                </a:solidFill>
                <a:latin typeface="Calibri"/>
              </a:rPr>
              <a:t>26 questions, 7B judge, no learner study. Research: one 24-task domain, internal preregistration, H4 failed, prevalence unaudited. Next: second domain with 65+ tasks, external registration, learner study.</a:t>
            </a:r>
          </a:p>
        </p:txBody>
      </p:sp>
      <p:sp>
        <p:nvSpPr>
          <p:cNvPr id="18" name="Rectangle 17"/>
          <p:cNvSpPr/>
          <p:nvPr/>
        </p:nvSpPr>
        <p:spPr>
          <a:xfrm>
            <a:off x="548640" y="4754880"/>
            <a:ext cx="11155680" cy="1188720"/>
          </a:xfrm>
          <a:prstGeom prst="rect">
            <a:avLst/>
          </a:prstGeom>
          <a:solidFill>
            <a:srgbClr val="E3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846320"/>
            <a:ext cx="10789920" cy="365760"/>
          </a:xfrm>
          <a:prstGeom prst="rect">
            <a:avLst/>
          </a:prstGeom>
          <a:noFill/>
        </p:spPr>
        <p:txBody>
          <a:bodyPr wrap="square" lIns="45720" rIns="45720" tIns="27432" bIns="27432">
            <a:spAutoFit/>
          </a:bodyPr>
          <a:lstStyle/>
          <a:p>
            <a:r>
              <a:rPr sz="1400" b="1">
                <a:solidFill>
                  <a:srgbClr val="0F766E"/>
                </a:solidFill>
                <a:latin typeface="Calibri"/>
              </a:rPr>
              <a:t>Code, evidence and findings log</a:t>
            </a:r>
          </a:p>
        </p:txBody>
      </p:sp>
      <p:sp>
        <p:nvSpPr>
          <p:cNvPr id="20" name="TextBox 19"/>
          <p:cNvSpPr txBox="1"/>
          <p:nvPr/>
        </p:nvSpPr>
        <p:spPr>
          <a:xfrm>
            <a:off x="731520" y="5257800"/>
            <a:ext cx="10789920" cy="457200"/>
          </a:xfrm>
          <a:prstGeom prst="rect">
            <a:avLst/>
          </a:prstGeom>
          <a:noFill/>
        </p:spPr>
        <p:txBody>
          <a:bodyPr wrap="square" lIns="45720" rIns="45720" tIns="27432" bIns="27432">
            <a:spAutoFit/>
          </a:bodyPr>
          <a:lstStyle/>
          <a:p>
            <a:r>
              <a:rPr sz="2000" b="1">
                <a:solidFill>
                  <a:srgbClr val="1E2128"/>
                </a:solidFill>
                <a:latin typeface="Calibri"/>
              </a:rPr>
              <a:t>github.com/adhyan-jain/OS-Tutor-RAG   (FINDINGS.md · paper/PAPER_FINAL.md = RCR paper)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lIns="45720" rIns="45720" tIns="27432" bIns="27432">
            <a:spAutoFit/>
          </a:bodyPr>
          <a:lstStyle/>
          <a:p>
            <a:r>
              <a:rPr sz="3000" b="1">
                <a:solidFill>
                  <a:srgbClr val="1E2128"/>
                </a:solidFill>
                <a:latin typeface="Calibri"/>
              </a:rPr>
              <a:t>References</a:t>
            </a:r>
          </a:p>
        </p:txBody>
      </p:sp>
      <p:sp>
        <p:nvSpPr>
          <p:cNvPr id="4" name="TextBox 3"/>
          <p:cNvSpPr txBox="1"/>
          <p:nvPr/>
        </p:nvSpPr>
        <p:spPr>
          <a:xfrm>
            <a:off x="548640" y="6446520"/>
            <a:ext cx="7315200" cy="274320"/>
          </a:xfrm>
          <a:prstGeom prst="rect">
            <a:avLst/>
          </a:prstGeom>
          <a:noFill/>
        </p:spPr>
        <p:txBody>
          <a:bodyPr wrap="square" lIns="45720" rIns="45720" tIns="27432" bIns="27432">
            <a:spAutoFit/>
          </a:bodyPr>
          <a:lstStyle/>
          <a:p>
            <a:r>
              <a:rPr sz="1000" b="0">
                <a:solidFill>
                  <a:srgbClr val="6B6F78"/>
                </a:solidFill>
                <a:latin typeface="Calibri"/>
              </a:rPr>
              <a:t>OS-Tutor-RAG · VIT</a:t>
            </a:r>
          </a:p>
        </p:txBody>
      </p:sp>
      <p:sp>
        <p:nvSpPr>
          <p:cNvPr id="5" name="TextBox 4"/>
          <p:cNvSpPr txBox="1"/>
          <p:nvPr/>
        </p:nvSpPr>
        <p:spPr>
          <a:xfrm>
            <a:off x="11155680" y="6446520"/>
            <a:ext cx="548640" cy="274320"/>
          </a:xfrm>
          <a:prstGeom prst="rect">
            <a:avLst/>
          </a:prstGeom>
          <a:noFill/>
        </p:spPr>
        <p:txBody>
          <a:bodyPr wrap="square" lIns="45720" rIns="45720" tIns="27432" bIns="27432">
            <a:spAutoFit/>
          </a:bodyPr>
          <a:lstStyle/>
          <a:p>
            <a:pPr algn="r"/>
            <a:r>
              <a:rPr sz="1000" b="0">
                <a:solidFill>
                  <a:srgbClr val="6B6F78"/>
                </a:solidFill>
                <a:latin typeface="Calibri"/>
              </a:rPr>
              <a:t>7</a:t>
            </a:r>
          </a:p>
        </p:txBody>
      </p:sp>
      <p:sp>
        <p:nvSpPr>
          <p:cNvPr id="6" name="TextBox 5"/>
          <p:cNvSpPr txBox="1"/>
          <p:nvPr/>
        </p:nvSpPr>
        <p:spPr>
          <a:xfrm>
            <a:off x="548640" y="1280160"/>
            <a:ext cx="548640" cy="365760"/>
          </a:xfrm>
          <a:prstGeom prst="rect">
            <a:avLst/>
          </a:prstGeom>
          <a:noFill/>
        </p:spPr>
        <p:txBody>
          <a:bodyPr wrap="square" lIns="45720" rIns="45720" tIns="27432" bIns="27432">
            <a:spAutoFit/>
          </a:bodyPr>
          <a:lstStyle/>
          <a:p>
            <a:r>
              <a:rPr sz="1200" b="1">
                <a:solidFill>
                  <a:srgbClr val="0F766E"/>
                </a:solidFill>
                <a:latin typeface="Calibri"/>
              </a:rPr>
              <a:t>[1]</a:t>
            </a:r>
          </a:p>
        </p:txBody>
      </p:sp>
      <p:sp>
        <p:nvSpPr>
          <p:cNvPr id="7" name="TextBox 6"/>
          <p:cNvSpPr txBox="1"/>
          <p:nvPr/>
        </p:nvSpPr>
        <p:spPr>
          <a:xfrm>
            <a:off x="1097280" y="1280160"/>
            <a:ext cx="10515600" cy="411480"/>
          </a:xfrm>
          <a:prstGeom prst="rect">
            <a:avLst/>
          </a:prstGeom>
          <a:noFill/>
        </p:spPr>
        <p:txBody>
          <a:bodyPr wrap="square" lIns="45720" rIns="45720" tIns="27432" bIns="27432">
            <a:spAutoFit/>
          </a:bodyPr>
          <a:lstStyle/>
          <a:p>
            <a:r>
              <a:rPr sz="1200" b="0">
                <a:solidFill>
                  <a:srgbClr val="1E2128"/>
                </a:solidFill>
                <a:latin typeface="Calibri"/>
              </a:rPr>
              <a:t>Lewis et al. (2020). Retrieval-augmented generation for knowledge-intensive NLP tasks. NeurIPS 33. arXiv:2005.11401</a:t>
            </a:r>
          </a:p>
        </p:txBody>
      </p:sp>
      <p:sp>
        <p:nvSpPr>
          <p:cNvPr id="8" name="TextBox 7"/>
          <p:cNvSpPr txBox="1"/>
          <p:nvPr/>
        </p:nvSpPr>
        <p:spPr>
          <a:xfrm>
            <a:off x="548640" y="1673351"/>
            <a:ext cx="548640" cy="365760"/>
          </a:xfrm>
          <a:prstGeom prst="rect">
            <a:avLst/>
          </a:prstGeom>
          <a:noFill/>
        </p:spPr>
        <p:txBody>
          <a:bodyPr wrap="square" lIns="45720" rIns="45720" tIns="27432" bIns="27432">
            <a:spAutoFit/>
          </a:bodyPr>
          <a:lstStyle/>
          <a:p>
            <a:r>
              <a:rPr sz="1200" b="1">
                <a:solidFill>
                  <a:srgbClr val="0F766E"/>
                </a:solidFill>
                <a:latin typeface="Calibri"/>
              </a:rPr>
              <a:t>[2]</a:t>
            </a:r>
          </a:p>
        </p:txBody>
      </p:sp>
      <p:sp>
        <p:nvSpPr>
          <p:cNvPr id="9" name="TextBox 8"/>
          <p:cNvSpPr txBox="1"/>
          <p:nvPr/>
        </p:nvSpPr>
        <p:spPr>
          <a:xfrm>
            <a:off x="1097280" y="1673351"/>
            <a:ext cx="10515600" cy="411480"/>
          </a:xfrm>
          <a:prstGeom prst="rect">
            <a:avLst/>
          </a:prstGeom>
          <a:noFill/>
        </p:spPr>
        <p:txBody>
          <a:bodyPr wrap="square" lIns="45720" rIns="45720" tIns="27432" bIns="27432">
            <a:spAutoFit/>
          </a:bodyPr>
          <a:lstStyle/>
          <a:p>
            <a:r>
              <a:rPr sz="1200" b="0">
                <a:solidFill>
                  <a:srgbClr val="1E2128"/>
                </a:solidFill>
                <a:latin typeface="Calibri"/>
              </a:rPr>
              <a:t>Karpukhin et al. (2020). Dense passage retrieval for open-domain question answering. EMNLP 2020. arXiv:2004.04906</a:t>
            </a:r>
          </a:p>
        </p:txBody>
      </p:sp>
      <p:sp>
        <p:nvSpPr>
          <p:cNvPr id="10" name="TextBox 9"/>
          <p:cNvSpPr txBox="1"/>
          <p:nvPr/>
        </p:nvSpPr>
        <p:spPr>
          <a:xfrm>
            <a:off x="548640" y="2066543"/>
            <a:ext cx="548640" cy="365760"/>
          </a:xfrm>
          <a:prstGeom prst="rect">
            <a:avLst/>
          </a:prstGeom>
          <a:noFill/>
        </p:spPr>
        <p:txBody>
          <a:bodyPr wrap="square" lIns="45720" rIns="45720" tIns="27432" bIns="27432">
            <a:spAutoFit/>
          </a:bodyPr>
          <a:lstStyle/>
          <a:p>
            <a:r>
              <a:rPr sz="1200" b="1">
                <a:solidFill>
                  <a:srgbClr val="0F766E"/>
                </a:solidFill>
                <a:latin typeface="Calibri"/>
              </a:rPr>
              <a:t>[3]</a:t>
            </a:r>
          </a:p>
        </p:txBody>
      </p:sp>
      <p:sp>
        <p:nvSpPr>
          <p:cNvPr id="11" name="TextBox 10"/>
          <p:cNvSpPr txBox="1"/>
          <p:nvPr/>
        </p:nvSpPr>
        <p:spPr>
          <a:xfrm>
            <a:off x="1097280" y="2066543"/>
            <a:ext cx="10515600" cy="411480"/>
          </a:xfrm>
          <a:prstGeom prst="rect">
            <a:avLst/>
          </a:prstGeom>
          <a:noFill/>
        </p:spPr>
        <p:txBody>
          <a:bodyPr wrap="square" lIns="45720" rIns="45720" tIns="27432" bIns="27432">
            <a:spAutoFit/>
          </a:bodyPr>
          <a:lstStyle/>
          <a:p>
            <a:r>
              <a:rPr sz="1200" b="0">
                <a:solidFill>
                  <a:srgbClr val="1E2128"/>
                </a:solidFill>
                <a:latin typeface="Calibri"/>
              </a:rPr>
              <a:t>Gao et al. (2022). Precise zero-shot dense retrieval without relevance labels (HyDE). arXiv:2212.10496</a:t>
            </a:r>
          </a:p>
        </p:txBody>
      </p:sp>
      <p:sp>
        <p:nvSpPr>
          <p:cNvPr id="12" name="TextBox 11"/>
          <p:cNvSpPr txBox="1"/>
          <p:nvPr/>
        </p:nvSpPr>
        <p:spPr>
          <a:xfrm>
            <a:off x="548640" y="2459736"/>
            <a:ext cx="548640" cy="365760"/>
          </a:xfrm>
          <a:prstGeom prst="rect">
            <a:avLst/>
          </a:prstGeom>
          <a:noFill/>
        </p:spPr>
        <p:txBody>
          <a:bodyPr wrap="square" lIns="45720" rIns="45720" tIns="27432" bIns="27432">
            <a:spAutoFit/>
          </a:bodyPr>
          <a:lstStyle/>
          <a:p>
            <a:r>
              <a:rPr sz="1200" b="1">
                <a:solidFill>
                  <a:srgbClr val="0F766E"/>
                </a:solidFill>
                <a:latin typeface="Calibri"/>
              </a:rPr>
              <a:t>[4]</a:t>
            </a:r>
          </a:p>
        </p:txBody>
      </p:sp>
      <p:sp>
        <p:nvSpPr>
          <p:cNvPr id="13" name="TextBox 12"/>
          <p:cNvSpPr txBox="1"/>
          <p:nvPr/>
        </p:nvSpPr>
        <p:spPr>
          <a:xfrm>
            <a:off x="1097280" y="2459736"/>
            <a:ext cx="10515600" cy="411480"/>
          </a:xfrm>
          <a:prstGeom prst="rect">
            <a:avLst/>
          </a:prstGeom>
          <a:noFill/>
        </p:spPr>
        <p:txBody>
          <a:bodyPr wrap="square" lIns="45720" rIns="45720" tIns="27432" bIns="27432">
            <a:spAutoFit/>
          </a:bodyPr>
          <a:lstStyle/>
          <a:p>
            <a:r>
              <a:rPr sz="1200" b="0">
                <a:solidFill>
                  <a:srgbClr val="1E2128"/>
                </a:solidFill>
                <a:latin typeface="Calibri"/>
              </a:rPr>
              <a:t>Es et al. (2023). RAGAS: Automated evaluation of retrieval augmented generation. arXiv:2309.15217</a:t>
            </a:r>
          </a:p>
        </p:txBody>
      </p:sp>
      <p:sp>
        <p:nvSpPr>
          <p:cNvPr id="14" name="TextBox 13"/>
          <p:cNvSpPr txBox="1"/>
          <p:nvPr/>
        </p:nvSpPr>
        <p:spPr>
          <a:xfrm>
            <a:off x="548640" y="2852928"/>
            <a:ext cx="548640" cy="365760"/>
          </a:xfrm>
          <a:prstGeom prst="rect">
            <a:avLst/>
          </a:prstGeom>
          <a:noFill/>
        </p:spPr>
        <p:txBody>
          <a:bodyPr wrap="square" lIns="45720" rIns="45720" tIns="27432" bIns="27432">
            <a:spAutoFit/>
          </a:bodyPr>
          <a:lstStyle/>
          <a:p>
            <a:r>
              <a:rPr sz="1200" b="1">
                <a:solidFill>
                  <a:srgbClr val="0F766E"/>
                </a:solidFill>
                <a:latin typeface="Calibri"/>
              </a:rPr>
              <a:t>[5]</a:t>
            </a:r>
          </a:p>
        </p:txBody>
      </p:sp>
      <p:sp>
        <p:nvSpPr>
          <p:cNvPr id="15" name="TextBox 14"/>
          <p:cNvSpPr txBox="1"/>
          <p:nvPr/>
        </p:nvSpPr>
        <p:spPr>
          <a:xfrm>
            <a:off x="1097280" y="2852928"/>
            <a:ext cx="10515600" cy="411480"/>
          </a:xfrm>
          <a:prstGeom prst="rect">
            <a:avLst/>
          </a:prstGeom>
          <a:noFill/>
        </p:spPr>
        <p:txBody>
          <a:bodyPr wrap="square" lIns="45720" rIns="45720" tIns="27432" bIns="27432">
            <a:spAutoFit/>
          </a:bodyPr>
          <a:lstStyle/>
          <a:p>
            <a:r>
              <a:rPr sz="1200" b="0">
                <a:solidFill>
                  <a:srgbClr val="1E2128"/>
                </a:solidFill>
                <a:latin typeface="Calibri"/>
              </a:rPr>
              <a:t>Zheng et al. (2023). Judging LLM-as-a-judge with MT-Bench and Chatbot Arena. arXiv:2306.05685</a:t>
            </a:r>
          </a:p>
        </p:txBody>
      </p:sp>
      <p:sp>
        <p:nvSpPr>
          <p:cNvPr id="16" name="TextBox 15"/>
          <p:cNvSpPr txBox="1"/>
          <p:nvPr/>
        </p:nvSpPr>
        <p:spPr>
          <a:xfrm>
            <a:off x="548640" y="3246120"/>
            <a:ext cx="548640" cy="365760"/>
          </a:xfrm>
          <a:prstGeom prst="rect">
            <a:avLst/>
          </a:prstGeom>
          <a:noFill/>
        </p:spPr>
        <p:txBody>
          <a:bodyPr wrap="square" lIns="45720" rIns="45720" tIns="27432" bIns="27432">
            <a:spAutoFit/>
          </a:bodyPr>
          <a:lstStyle/>
          <a:p>
            <a:r>
              <a:rPr sz="1200" b="1">
                <a:solidFill>
                  <a:srgbClr val="0F766E"/>
                </a:solidFill>
                <a:latin typeface="Calibri"/>
              </a:rPr>
              <a:t>[6]</a:t>
            </a:r>
          </a:p>
        </p:txBody>
      </p:sp>
      <p:sp>
        <p:nvSpPr>
          <p:cNvPr id="17" name="TextBox 16"/>
          <p:cNvSpPr txBox="1"/>
          <p:nvPr/>
        </p:nvSpPr>
        <p:spPr>
          <a:xfrm>
            <a:off x="1097280" y="3246120"/>
            <a:ext cx="10515600" cy="411480"/>
          </a:xfrm>
          <a:prstGeom prst="rect">
            <a:avLst/>
          </a:prstGeom>
          <a:noFill/>
        </p:spPr>
        <p:txBody>
          <a:bodyPr wrap="square" lIns="45720" rIns="45720" tIns="27432" bIns="27432">
            <a:spAutoFit/>
          </a:bodyPr>
          <a:lstStyle/>
          <a:p>
            <a:r>
              <a:rPr sz="1200" b="0">
                <a:solidFill>
                  <a:srgbClr val="1E2128"/>
                </a:solidFill>
                <a:latin typeface="Calibri"/>
              </a:rPr>
              <a:t>Xiao et al. (2023). C-Pack: Packed Resources For General Chinese Embeddings (BGE). arXiv:2309.07597</a:t>
            </a:r>
          </a:p>
        </p:txBody>
      </p:sp>
      <p:sp>
        <p:nvSpPr>
          <p:cNvPr id="18" name="TextBox 17"/>
          <p:cNvSpPr txBox="1"/>
          <p:nvPr/>
        </p:nvSpPr>
        <p:spPr>
          <a:xfrm>
            <a:off x="548640" y="3639312"/>
            <a:ext cx="548640" cy="365760"/>
          </a:xfrm>
          <a:prstGeom prst="rect">
            <a:avLst/>
          </a:prstGeom>
          <a:noFill/>
        </p:spPr>
        <p:txBody>
          <a:bodyPr wrap="square" lIns="45720" rIns="45720" tIns="27432" bIns="27432">
            <a:spAutoFit/>
          </a:bodyPr>
          <a:lstStyle/>
          <a:p>
            <a:r>
              <a:rPr sz="1200" b="1">
                <a:solidFill>
                  <a:srgbClr val="0F766E"/>
                </a:solidFill>
                <a:latin typeface="Calibri"/>
              </a:rPr>
              <a:t>[7]</a:t>
            </a:r>
          </a:p>
        </p:txBody>
      </p:sp>
      <p:sp>
        <p:nvSpPr>
          <p:cNvPr id="19" name="TextBox 18"/>
          <p:cNvSpPr txBox="1"/>
          <p:nvPr/>
        </p:nvSpPr>
        <p:spPr>
          <a:xfrm>
            <a:off x="1097280" y="3639312"/>
            <a:ext cx="10515600" cy="411480"/>
          </a:xfrm>
          <a:prstGeom prst="rect">
            <a:avLst/>
          </a:prstGeom>
          <a:noFill/>
        </p:spPr>
        <p:txBody>
          <a:bodyPr wrap="square" lIns="45720" rIns="45720" tIns="27432" bIns="27432">
            <a:spAutoFit/>
          </a:bodyPr>
          <a:lstStyle/>
          <a:p>
            <a:r>
              <a:rPr sz="1200" b="0">
                <a:solidFill>
                  <a:srgbClr val="1E2128"/>
                </a:solidFill>
                <a:latin typeface="Calibri"/>
              </a:rPr>
              <a:t>Wood, Bruner &amp; Ross (1976). The role of tutoring in problem solving. J. Child Psychol. Psychiatry 17(2), 89-100</a:t>
            </a:r>
          </a:p>
        </p:txBody>
      </p:sp>
      <p:sp>
        <p:nvSpPr>
          <p:cNvPr id="20" name="TextBox 19"/>
          <p:cNvSpPr txBox="1"/>
          <p:nvPr/>
        </p:nvSpPr>
        <p:spPr>
          <a:xfrm>
            <a:off x="548640" y="4032504"/>
            <a:ext cx="548640" cy="365760"/>
          </a:xfrm>
          <a:prstGeom prst="rect">
            <a:avLst/>
          </a:prstGeom>
          <a:noFill/>
        </p:spPr>
        <p:txBody>
          <a:bodyPr wrap="square" lIns="45720" rIns="45720" tIns="27432" bIns="27432">
            <a:spAutoFit/>
          </a:bodyPr>
          <a:lstStyle/>
          <a:p>
            <a:r>
              <a:rPr sz="1200" b="1">
                <a:solidFill>
                  <a:srgbClr val="0F766E"/>
                </a:solidFill>
                <a:latin typeface="Calibri"/>
              </a:rPr>
              <a:t>[8]</a:t>
            </a:r>
          </a:p>
        </p:txBody>
      </p:sp>
      <p:sp>
        <p:nvSpPr>
          <p:cNvPr id="21" name="TextBox 20"/>
          <p:cNvSpPr txBox="1"/>
          <p:nvPr/>
        </p:nvSpPr>
        <p:spPr>
          <a:xfrm>
            <a:off x="1097280" y="4032504"/>
            <a:ext cx="10515600" cy="411480"/>
          </a:xfrm>
          <a:prstGeom prst="rect">
            <a:avLst/>
          </a:prstGeom>
          <a:noFill/>
        </p:spPr>
        <p:txBody>
          <a:bodyPr wrap="square" lIns="45720" rIns="45720" tIns="27432" bIns="27432">
            <a:spAutoFit/>
          </a:bodyPr>
          <a:lstStyle/>
          <a:p>
            <a:r>
              <a:rPr sz="1200" b="0">
                <a:solidFill>
                  <a:srgbClr val="1E2128"/>
                </a:solidFill>
                <a:latin typeface="Calibri"/>
              </a:rPr>
              <a:t>Arpaci-Dusseau &amp; Arpaci-Dusseau. Operating Systems: Three Easy Pieces (course reading)</a:t>
            </a:r>
          </a:p>
        </p:txBody>
      </p:sp>
      <p:sp>
        <p:nvSpPr>
          <p:cNvPr id="22" name="TextBox 21"/>
          <p:cNvSpPr txBox="1"/>
          <p:nvPr/>
        </p:nvSpPr>
        <p:spPr>
          <a:xfrm>
            <a:off x="548640" y="4425696"/>
            <a:ext cx="548640" cy="365760"/>
          </a:xfrm>
          <a:prstGeom prst="rect">
            <a:avLst/>
          </a:prstGeom>
          <a:noFill/>
        </p:spPr>
        <p:txBody>
          <a:bodyPr wrap="square" lIns="45720" rIns="45720" tIns="27432" bIns="27432">
            <a:spAutoFit/>
          </a:bodyPr>
          <a:lstStyle/>
          <a:p>
            <a:r>
              <a:rPr sz="1200" b="1">
                <a:solidFill>
                  <a:srgbClr val="0F766E"/>
                </a:solidFill>
                <a:latin typeface="Calibri"/>
              </a:rPr>
              <a:t>[9]</a:t>
            </a:r>
          </a:p>
        </p:txBody>
      </p:sp>
      <p:sp>
        <p:nvSpPr>
          <p:cNvPr id="23" name="TextBox 22"/>
          <p:cNvSpPr txBox="1"/>
          <p:nvPr/>
        </p:nvSpPr>
        <p:spPr>
          <a:xfrm>
            <a:off x="1097280" y="4425696"/>
            <a:ext cx="10515600" cy="411480"/>
          </a:xfrm>
          <a:prstGeom prst="rect">
            <a:avLst/>
          </a:prstGeom>
          <a:noFill/>
        </p:spPr>
        <p:txBody>
          <a:bodyPr wrap="square" lIns="45720" rIns="45720" tIns="27432" bIns="27432">
            <a:spAutoFit/>
          </a:bodyPr>
          <a:lstStyle/>
          <a:p>
            <a:r>
              <a:rPr sz="1200" b="0">
                <a:solidFill>
                  <a:srgbClr val="1E2128"/>
                </a:solidFill>
                <a:latin typeface="Calibri"/>
              </a:rPr>
              <a:t>Casola et al. (2025). References Matter: reference set variation in summarization evaluation. INLG 2025. arXiv:2506.14335</a:t>
            </a:r>
          </a:p>
        </p:txBody>
      </p:sp>
      <p:sp>
        <p:nvSpPr>
          <p:cNvPr id="24" name="TextBox 23"/>
          <p:cNvSpPr txBox="1"/>
          <p:nvPr/>
        </p:nvSpPr>
        <p:spPr>
          <a:xfrm>
            <a:off x="548640" y="4818888"/>
            <a:ext cx="548640" cy="365760"/>
          </a:xfrm>
          <a:prstGeom prst="rect">
            <a:avLst/>
          </a:prstGeom>
          <a:noFill/>
        </p:spPr>
        <p:txBody>
          <a:bodyPr wrap="square" lIns="45720" rIns="45720" tIns="27432" bIns="27432">
            <a:spAutoFit/>
          </a:bodyPr>
          <a:lstStyle/>
          <a:p>
            <a:r>
              <a:rPr sz="1200" b="1">
                <a:solidFill>
                  <a:srgbClr val="0F766E"/>
                </a:solidFill>
                <a:latin typeface="Calibri"/>
              </a:rPr>
              <a:t>[10]</a:t>
            </a:r>
          </a:p>
        </p:txBody>
      </p:sp>
      <p:sp>
        <p:nvSpPr>
          <p:cNvPr id="25" name="TextBox 24"/>
          <p:cNvSpPr txBox="1"/>
          <p:nvPr/>
        </p:nvSpPr>
        <p:spPr>
          <a:xfrm>
            <a:off x="1097280" y="4818888"/>
            <a:ext cx="10515600" cy="411480"/>
          </a:xfrm>
          <a:prstGeom prst="rect">
            <a:avLst/>
          </a:prstGeom>
          <a:noFill/>
        </p:spPr>
        <p:txBody>
          <a:bodyPr wrap="square" lIns="45720" rIns="45720" tIns="27432" bIns="27432">
            <a:spAutoFit/>
          </a:bodyPr>
          <a:lstStyle/>
          <a:p>
            <a:r>
              <a:rPr sz="1200" b="0">
                <a:solidFill>
                  <a:srgbClr val="1E2128"/>
                </a:solidFill>
                <a:latin typeface="Calibri"/>
              </a:rPr>
              <a:t>Jeong et al. (2026). Reporting Practice Matters: reference choice in chest X-ray report evaluation. arXiv:2609.19093</a:t>
            </a:r>
          </a:p>
        </p:txBody>
      </p:sp>
      <p:sp>
        <p:nvSpPr>
          <p:cNvPr id="26" name="TextBox 25"/>
          <p:cNvSpPr txBox="1"/>
          <p:nvPr/>
        </p:nvSpPr>
        <p:spPr>
          <a:xfrm>
            <a:off x="548640" y="5212079"/>
            <a:ext cx="548640" cy="365760"/>
          </a:xfrm>
          <a:prstGeom prst="rect">
            <a:avLst/>
          </a:prstGeom>
          <a:noFill/>
        </p:spPr>
        <p:txBody>
          <a:bodyPr wrap="square" lIns="45720" rIns="45720" tIns="27432" bIns="27432">
            <a:spAutoFit/>
          </a:bodyPr>
          <a:lstStyle/>
          <a:p>
            <a:r>
              <a:rPr sz="1200" b="1">
                <a:solidFill>
                  <a:srgbClr val="0F766E"/>
                </a:solidFill>
                <a:latin typeface="Calibri"/>
              </a:rPr>
              <a:t>[11]</a:t>
            </a:r>
          </a:p>
        </p:txBody>
      </p:sp>
      <p:sp>
        <p:nvSpPr>
          <p:cNvPr id="27" name="TextBox 26"/>
          <p:cNvSpPr txBox="1"/>
          <p:nvPr/>
        </p:nvSpPr>
        <p:spPr>
          <a:xfrm>
            <a:off x="1097280" y="5212079"/>
            <a:ext cx="10515600" cy="411480"/>
          </a:xfrm>
          <a:prstGeom prst="rect">
            <a:avLst/>
          </a:prstGeom>
          <a:noFill/>
        </p:spPr>
        <p:txBody>
          <a:bodyPr wrap="square" lIns="45720" rIns="45720" tIns="27432" bIns="27432">
            <a:spAutoFit/>
          </a:bodyPr>
          <a:lstStyle/>
          <a:p>
            <a:r>
              <a:rPr sz="1200" b="0">
                <a:solidFill>
                  <a:srgbClr val="1E2128"/>
                </a:solidFill>
                <a:latin typeface="Calibri"/>
              </a:rPr>
              <a:t>Chen et al. (2026). HypoSpace: set-valued hypothesis generation under underdetermination. arXiv:2510.15614 (ICML 2026)</a:t>
            </a:r>
          </a:p>
        </p:txBody>
      </p:sp>
      <p:sp>
        <p:nvSpPr>
          <p:cNvPr id="28" name="TextBox 27"/>
          <p:cNvSpPr txBox="1"/>
          <p:nvPr/>
        </p:nvSpPr>
        <p:spPr>
          <a:xfrm>
            <a:off x="548640" y="5605271"/>
            <a:ext cx="548640" cy="365760"/>
          </a:xfrm>
          <a:prstGeom prst="rect">
            <a:avLst/>
          </a:prstGeom>
          <a:noFill/>
        </p:spPr>
        <p:txBody>
          <a:bodyPr wrap="square" lIns="45720" rIns="45720" tIns="27432" bIns="27432">
            <a:spAutoFit/>
          </a:bodyPr>
          <a:lstStyle/>
          <a:p>
            <a:r>
              <a:rPr sz="1200" b="1">
                <a:solidFill>
                  <a:srgbClr val="0F766E"/>
                </a:solidFill>
                <a:latin typeface="Calibri"/>
              </a:rPr>
              <a:t>[12]</a:t>
            </a:r>
          </a:p>
        </p:txBody>
      </p:sp>
      <p:sp>
        <p:nvSpPr>
          <p:cNvPr id="29" name="TextBox 28"/>
          <p:cNvSpPr txBox="1"/>
          <p:nvPr/>
        </p:nvSpPr>
        <p:spPr>
          <a:xfrm>
            <a:off x="1097280" y="5605271"/>
            <a:ext cx="10515600" cy="411480"/>
          </a:xfrm>
          <a:prstGeom prst="rect">
            <a:avLst/>
          </a:prstGeom>
          <a:noFill/>
        </p:spPr>
        <p:txBody>
          <a:bodyPr wrap="square" lIns="45720" rIns="45720" tIns="27432" bIns="27432">
            <a:spAutoFit/>
          </a:bodyPr>
          <a:lstStyle/>
          <a:p>
            <a:r>
              <a:rPr sz="1200" b="0">
                <a:solidFill>
                  <a:srgbClr val="1E2128"/>
                </a:solidFill>
                <a:latin typeface="Calibri"/>
              </a:rPr>
              <a:t>OS-Tutor-RAG repository: github.com/adhyan-jain/OS-Tutor-RAG</a:t>
            </a:r>
          </a:p>
        </p:txBody>
      </p:sp>
      <p:sp>
        <p:nvSpPr>
          <p:cNvPr id="30" name="TextBox 29"/>
          <p:cNvSpPr txBox="1"/>
          <p:nvPr/>
        </p:nvSpPr>
        <p:spPr>
          <a:xfrm>
            <a:off x="548640" y="6080760"/>
            <a:ext cx="10972800" cy="320040"/>
          </a:xfrm>
          <a:prstGeom prst="rect">
            <a:avLst/>
          </a:prstGeom>
          <a:noFill/>
        </p:spPr>
        <p:txBody>
          <a:bodyPr wrap="square" lIns="45720" rIns="45720" tIns="27432" bIns="27432">
            <a:spAutoFit/>
          </a:bodyPr>
          <a:lstStyle/>
          <a:p>
            <a:r>
              <a:rPr sz="1100" b="0">
                <a:solidFill>
                  <a:srgbClr val="6B6F78"/>
                </a:solidFill>
                <a:latin typeface="Calibri"/>
              </a:rPr>
              <a:t>arXiv identifiers [1]-[6] and [9]-[11] checked against arxiv.org; [7] and [8] are standard journal/textbook citations.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